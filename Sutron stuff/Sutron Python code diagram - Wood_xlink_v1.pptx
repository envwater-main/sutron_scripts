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DB2C-D372-482D-9D9B-620DFA6FC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EDE72-21FB-42D4-B1F5-1188CE5ED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25719-5B4D-44C5-9AD0-448CFE38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0782A-0B7F-44A7-A8FB-FE808168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3DF2-3ABA-480C-8580-B814035F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8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B287-6FE1-4D9F-9771-ECFABD55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F435-1BA3-4619-A098-A4C57F82A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5E7E5-AAF6-4743-8D04-62D6C8B2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4A459-47BC-4010-A860-A69C3F22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CF65A-35E2-4CA9-9EF2-515D570D1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0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D255-3AF7-41C4-B195-E550A2CE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6B253-A468-45AA-847B-354BE5E4D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CD3-085F-403F-A303-4289B986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1ECE8-D273-4CE9-B1DB-FC217BF7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F8CD-3D86-46EF-BF42-F970F555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1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EC77-7DAE-424C-A3BC-50B51638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AFE71-E7BF-45B7-93F4-50A1FC629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A14F2-EDB0-4172-8115-80E584D48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DBC46-E664-40CF-A931-E1FE46C4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97609-442A-4598-A0F5-37D0F8BD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04B72-24AB-49F5-9E73-095A4FC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0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8053-D0DD-4C76-8B36-0255FD66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202BC-7154-4775-97DC-5408D8AF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4DCDD-2EE8-420C-838C-CE59AC209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A7574-B269-4E58-ABF8-5CC91EA49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2C657-07C7-4E20-A17F-D8E685116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18CA4-A6EE-4A7B-A8C5-8A66C317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AD295-DB96-44D0-9FD4-1F98377E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9B115-C30E-41EA-9E68-923B276D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9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D71B-0E83-4542-B48A-B08DD315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F1ABB-648B-455D-AB20-7CFA7546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90C9C-A93B-42B5-9BBC-4DED156E4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FB273-18CA-40DD-9D54-3D4C5FD8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6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C9A09-EE48-4F55-87D3-1F1B6848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6E450-C36A-4967-A95A-75FD5E34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153A2-8C9C-4B1E-8E44-744A6199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C960-4274-4954-B238-9BC9770B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E1CE-1FBE-4E78-9081-8B6F31C46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84ED2-0089-4372-BD44-081CCAE61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D60F8-8BC8-40E5-B117-B4AB6D0C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FD846-B57E-42CE-B8D8-0A22E221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33447-3163-4264-B903-BDBB282F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7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12F8-3D4F-4359-8C52-525889EB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390D3-6411-4BCD-A6B3-8D89F19B5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9B282-3FC4-456E-88AF-B086DB3E0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59EEB-426F-4276-9B22-B746F96F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47714-ED7B-48AB-B19C-A966B39A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FE79E-D786-4568-A422-4F1EDB88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4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1DF7-DE12-4B47-BBBC-5B629A20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255DA-DBF0-492D-96C8-D1B1290BA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64-B73B-487C-AB54-135428A3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92B64-3ABE-466D-8A66-7CB1CAB0E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A62A3-53A3-43CF-8554-14DB712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8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ECEF6-7D71-4949-9CE5-9ED88526A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DAD9D-79E7-4616-9981-5AD83F9F2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E8D2B-F5A8-4415-8A02-F5E0AB8A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A6011-2264-4077-AC35-B77B2F11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B2499-598E-48CE-ADA2-BF4A760A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3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0EA46-111F-424E-B390-CD7D14AB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2F46D-ADF9-4D48-864B-AA4F6AD1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E7C27-981C-4F78-AE7B-C5759420F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06433-2230-4CEB-8B0A-D4C3C8A2130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5803-4298-49CD-A270-58E314DC5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EC42D-FA4F-4F7F-97F4-890085499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F42B6-5836-4CBD-B3F0-F69656819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274295-445A-446F-B0B5-B7BF0AE9FD83}"/>
              </a:ext>
            </a:extLst>
          </p:cNvPr>
          <p:cNvSpPr/>
          <p:nvPr/>
        </p:nvSpPr>
        <p:spPr>
          <a:xfrm>
            <a:off x="525157" y="1014293"/>
            <a:ext cx="1724297" cy="326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gp_read_value_by_label()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48E0E5-BF42-4228-8056-DE1D73BD279A}"/>
              </a:ext>
            </a:extLst>
          </p:cNvPr>
          <p:cNvSpPr/>
          <p:nvPr/>
        </p:nvSpPr>
        <p:spPr>
          <a:xfrm>
            <a:off x="4161762" y="907839"/>
            <a:ext cx="1428205" cy="326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get_flow_units()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EA9F29-FCE2-48B6-9540-B5AB6801F2D8}"/>
              </a:ext>
            </a:extLst>
          </p:cNvPr>
          <p:cNvSpPr/>
          <p:nvPr/>
        </p:nvSpPr>
        <p:spPr>
          <a:xfrm>
            <a:off x="9088637" y="1035508"/>
            <a:ext cx="1985555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get_time_pacing_increment()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EEFAA-F514-4B37-9735-C1C46E9D5AE7}"/>
              </a:ext>
            </a:extLst>
          </p:cNvPr>
          <p:cNvSpPr/>
          <p:nvPr/>
        </p:nvSpPr>
        <p:spPr>
          <a:xfrm>
            <a:off x="525158" y="2031612"/>
            <a:ext cx="1593669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get_pacing_weighting()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87D041-10E6-441F-B205-9D9007C009C6}"/>
              </a:ext>
            </a:extLst>
          </p:cNvPr>
          <p:cNvSpPr/>
          <p:nvPr/>
        </p:nvSpPr>
        <p:spPr>
          <a:xfrm>
            <a:off x="4161762" y="1334827"/>
            <a:ext cx="1593669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get_sample_pacing()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64A6E4-C764-423B-A2E9-43D9E35C8014}"/>
              </a:ext>
            </a:extLst>
          </p:cNvPr>
          <p:cNvSpPr/>
          <p:nvPr/>
        </p:nvSpPr>
        <p:spPr>
          <a:xfrm>
            <a:off x="4161762" y="1768339"/>
            <a:ext cx="3322320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bottle_and_pacing_change(pacing</a:t>
            </a:r>
            <a:r>
              <a:rPr lang="en-US" sz="1100" err="1"/>
              <a:t>_</a:t>
            </a:r>
            <a:r>
              <a:rPr lang="en-US" sz="1100"/>
              <a:t>input,bottle_num)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12F0AA-8387-4E6B-908E-BDF1CBA9BF43}"/>
              </a:ext>
            </a:extLst>
          </p:cNvPr>
          <p:cNvSpPr/>
          <p:nvPr/>
        </p:nvSpPr>
        <p:spPr>
          <a:xfrm>
            <a:off x="4161762" y="342119"/>
            <a:ext cx="2702768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FLOW weighted sampling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340C62-67CC-4912-AB4A-BED351BD0258}"/>
              </a:ext>
            </a:extLst>
          </p:cNvPr>
          <p:cNvSpPr/>
          <p:nvPr/>
        </p:nvSpPr>
        <p:spPr>
          <a:xfrm>
            <a:off x="9088637" y="348155"/>
            <a:ext cx="2572140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TIME weighted sampling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35BF68-5213-4E6D-BCF5-93345E3EA917}"/>
              </a:ext>
            </a:extLst>
          </p:cNvPr>
          <p:cNvSpPr/>
          <p:nvPr/>
        </p:nvSpPr>
        <p:spPr>
          <a:xfrm>
            <a:off x="519249" y="2565541"/>
            <a:ext cx="1593669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trigger_sampler</a:t>
            </a:r>
            <a:r>
              <a:rPr lang="en-US" sz="1100"/>
              <a:t>()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91C7D3-7288-4A55-A530-C3BC3A8BF467}"/>
              </a:ext>
            </a:extLst>
          </p:cNvPr>
          <p:cNvSpPr/>
          <p:nvPr/>
        </p:nvSpPr>
        <p:spPr>
          <a:xfrm>
            <a:off x="4237964" y="4159733"/>
            <a:ext cx="2241214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Flow data functions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E92376-C310-4A40-8F04-F5D82A0ACD9D}"/>
              </a:ext>
            </a:extLst>
          </p:cNvPr>
          <p:cNvSpPr/>
          <p:nvPr/>
        </p:nvSpPr>
        <p:spPr>
          <a:xfrm>
            <a:off x="4237964" y="4828122"/>
            <a:ext cx="1593669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HvF_table</a:t>
            </a:r>
            <a:r>
              <a:rPr lang="en-US" sz="1100"/>
              <a:t>(</a:t>
            </a:r>
            <a:r>
              <a:rPr lang="en-US" sz="1100" err="1"/>
              <a:t>stage_in</a:t>
            </a:r>
            <a:r>
              <a:rPr lang="en-US" sz="1100"/>
              <a:t>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4482C3-A4CE-4EA6-B428-A1288AEDD6CE}"/>
              </a:ext>
            </a:extLst>
          </p:cNvPr>
          <p:cNvSpPr/>
          <p:nvPr/>
        </p:nvSpPr>
        <p:spPr>
          <a:xfrm>
            <a:off x="4237964" y="5361070"/>
            <a:ext cx="1730206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AV_PipeFlow_cfs</a:t>
            </a:r>
            <a:r>
              <a:rPr lang="en-US" sz="1100"/>
              <a:t>(</a:t>
            </a:r>
            <a:r>
              <a:rPr lang="en-US" sz="1100" err="1"/>
              <a:t>vel_fps</a:t>
            </a:r>
            <a:r>
              <a:rPr lang="en-US" sz="1100"/>
              <a:t>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C529B0-4430-48EE-B942-CB5B8A0504FC}"/>
              </a:ext>
            </a:extLst>
          </p:cNvPr>
          <p:cNvSpPr/>
          <p:nvPr/>
        </p:nvSpPr>
        <p:spPr>
          <a:xfrm>
            <a:off x="4161762" y="2220928"/>
            <a:ext cx="2241214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flow_weighted_sampling</a:t>
            </a:r>
            <a:r>
              <a:rPr lang="en-US" sz="1100"/>
              <a:t>(flow)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9C7F14-5613-4D87-B133-D57725110495}"/>
              </a:ext>
            </a:extLst>
          </p:cNvPr>
          <p:cNvSpPr/>
          <p:nvPr/>
        </p:nvSpPr>
        <p:spPr>
          <a:xfrm>
            <a:off x="9088637" y="1467406"/>
            <a:ext cx="2572140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time_weighted_sampling</a:t>
            </a:r>
            <a:r>
              <a:rPr lang="en-US" sz="1100"/>
              <a:t>(pacing_input)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287724-130A-43AB-99F0-1A23E7985696}"/>
              </a:ext>
            </a:extLst>
          </p:cNvPr>
          <p:cNvSpPr/>
          <p:nvPr/>
        </p:nvSpPr>
        <p:spPr>
          <a:xfrm>
            <a:off x="519248" y="3009575"/>
            <a:ext cx="1593669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number_of_aliquots</a:t>
            </a:r>
            <a:r>
              <a:rPr lang="en-US" sz="1100"/>
              <a:t>()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05ECD79-A712-45CC-AFF3-A04E37A88F6D}"/>
              </a:ext>
            </a:extLst>
          </p:cNvPr>
          <p:cNvSpPr/>
          <p:nvPr/>
        </p:nvSpPr>
        <p:spPr>
          <a:xfrm>
            <a:off x="519248" y="4721928"/>
            <a:ext cx="1593669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turn_on_sampling</a:t>
            </a:r>
            <a:r>
              <a:rPr lang="en-US" sz="1100"/>
              <a:t>()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9562EA-86B5-44EC-9598-8704AC052460}"/>
              </a:ext>
            </a:extLst>
          </p:cNvPr>
          <p:cNvSpPr/>
          <p:nvPr/>
        </p:nvSpPr>
        <p:spPr>
          <a:xfrm>
            <a:off x="519248" y="5213998"/>
            <a:ext cx="1593669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turn_off_sampling</a:t>
            </a:r>
            <a:r>
              <a:rPr lang="en-US" sz="1100"/>
              <a:t>()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0A5ED0-4883-4675-BFE2-7AA3FBC43F57}"/>
              </a:ext>
            </a:extLst>
          </p:cNvPr>
          <p:cNvSpPr/>
          <p:nvPr/>
        </p:nvSpPr>
        <p:spPr>
          <a:xfrm>
            <a:off x="519247" y="5711259"/>
            <a:ext cx="1724297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reset_sampling_params</a:t>
            </a:r>
            <a:r>
              <a:rPr lang="en-US" sz="1100"/>
              <a:t>()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67EEF5-5133-4B11-B101-5D5B7E41763D}"/>
              </a:ext>
            </a:extLst>
          </p:cNvPr>
          <p:cNvSpPr/>
          <p:nvPr/>
        </p:nvSpPr>
        <p:spPr>
          <a:xfrm>
            <a:off x="519245" y="6160344"/>
            <a:ext cx="1834711" cy="326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trigger_sampler_manually</a:t>
            </a:r>
            <a:r>
              <a:rPr lang="en-US" sz="1100"/>
              <a:t>()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CDF24D-FE3E-46E5-A20F-1617063CD49B}"/>
              </a:ext>
            </a:extLst>
          </p:cNvPr>
          <p:cNvSpPr/>
          <p:nvPr/>
        </p:nvSpPr>
        <p:spPr>
          <a:xfrm>
            <a:off x="315994" y="342119"/>
            <a:ext cx="2241214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general functions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0138AF1-349F-4808-90C2-B41C68652F8C}"/>
              </a:ext>
            </a:extLst>
          </p:cNvPr>
          <p:cNvSpPr/>
          <p:nvPr/>
        </p:nvSpPr>
        <p:spPr>
          <a:xfrm>
            <a:off x="315994" y="3944102"/>
            <a:ext cx="2241214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TASK functions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39604F-80AC-4AAE-97D1-D96167DC7EFE}"/>
              </a:ext>
            </a:extLst>
          </p:cNvPr>
          <p:cNvSpPr/>
          <p:nvPr/>
        </p:nvSpPr>
        <p:spPr>
          <a:xfrm>
            <a:off x="519247" y="1522952"/>
            <a:ext cx="1834711" cy="326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gp_write_value_by_label()</a:t>
            </a:r>
          </a:p>
        </p:txBody>
      </p:sp>
    </p:spTree>
    <p:extLst>
      <p:ext uri="{BB962C8B-B14F-4D97-AF65-F5344CB8AC3E}">
        <p14:creationId xmlns:p14="http://schemas.microsoft.com/office/powerpoint/2010/main" val="37018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6E6B0A-180F-44FF-BDFC-93FC1FC96BE3}"/>
              </a:ext>
            </a:extLst>
          </p:cNvPr>
          <p:cNvSpPr/>
          <p:nvPr/>
        </p:nvSpPr>
        <p:spPr>
          <a:xfrm>
            <a:off x="441026" y="284419"/>
            <a:ext cx="1707501" cy="6683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Script Global variables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7C2932-7272-40CE-8356-D087014D41A9}"/>
              </a:ext>
            </a:extLst>
          </p:cNvPr>
          <p:cNvSpPr/>
          <p:nvPr/>
        </p:nvSpPr>
        <p:spPr>
          <a:xfrm>
            <a:off x="442898" y="1054394"/>
            <a:ext cx="1593669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gp_count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0ACD5-C01A-4560-9836-8783966B923A}"/>
              </a:ext>
            </a:extLst>
          </p:cNvPr>
          <p:cNvSpPr/>
          <p:nvPr/>
        </p:nvSpPr>
        <p:spPr>
          <a:xfrm>
            <a:off x="418321" y="3761842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time_pacing_increment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A36EF5-CE78-4DC4-B1A1-D9075D5B500F}"/>
              </a:ext>
            </a:extLst>
          </p:cNvPr>
          <p:cNvSpPr/>
          <p:nvPr/>
        </p:nvSpPr>
        <p:spPr>
          <a:xfrm>
            <a:off x="418321" y="1455643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pacing_weighting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B786D9-A140-441F-94E3-CF937001687A}"/>
              </a:ext>
            </a:extLst>
          </p:cNvPr>
          <p:cNvSpPr/>
          <p:nvPr/>
        </p:nvSpPr>
        <p:spPr>
          <a:xfrm>
            <a:off x="418321" y="1876123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sampling_on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77ABF1-8A30-48A1-B13A-EB4DBC983DD7}"/>
              </a:ext>
            </a:extLst>
          </p:cNvPr>
          <p:cNvSpPr/>
          <p:nvPr/>
        </p:nvSpPr>
        <p:spPr>
          <a:xfrm>
            <a:off x="418321" y="4254337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bottle_num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5F5FB5-D1B0-478C-8CAA-7C32D3D86819}"/>
              </a:ext>
            </a:extLst>
          </p:cNvPr>
          <p:cNvSpPr/>
          <p:nvPr/>
        </p:nvSpPr>
        <p:spPr>
          <a:xfrm>
            <a:off x="418321" y="4751455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vol_in_bottle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1F658B-B2E9-475C-A7D0-B0C1A18078D5}"/>
              </a:ext>
            </a:extLst>
          </p:cNvPr>
          <p:cNvSpPr/>
          <p:nvPr/>
        </p:nvSpPr>
        <p:spPr>
          <a:xfrm>
            <a:off x="441026" y="5266597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aliquots_in_bottle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0C37D1-A6F3-4A8C-9D83-F311EB3C9F13}"/>
              </a:ext>
            </a:extLst>
          </p:cNvPr>
          <p:cNvSpPr/>
          <p:nvPr/>
        </p:nvSpPr>
        <p:spPr>
          <a:xfrm>
            <a:off x="441026" y="2298624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sampling_pacing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39CF4D-C761-4A3F-9AF3-25960369ABB5}"/>
              </a:ext>
            </a:extLst>
          </p:cNvPr>
          <p:cNvSpPr/>
          <p:nvPr/>
        </p:nvSpPr>
        <p:spPr>
          <a:xfrm>
            <a:off x="441026" y="5763715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time_last_sample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05A1EA-4363-443D-8B7D-078D228A1DAC}"/>
              </a:ext>
            </a:extLst>
          </p:cNvPr>
          <p:cNvSpPr/>
          <p:nvPr/>
        </p:nvSpPr>
        <p:spPr>
          <a:xfrm>
            <a:off x="418321" y="6278857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sample_log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C491EA-9433-4C2B-8D79-E5CF7B407A81}"/>
              </a:ext>
            </a:extLst>
          </p:cNvPr>
          <p:cNvSpPr/>
          <p:nvPr/>
        </p:nvSpPr>
        <p:spPr>
          <a:xfrm>
            <a:off x="6218225" y="952808"/>
            <a:ext cx="5275574" cy="37856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/>
              <a:t>SamplePacin (either time or flow volume) – min or cf/gal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BottleNum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Incr_Flow (only used for flow-weighted sampling) – cf/gal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TimeToSampl (only used for time-weighted sampling) - min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AliquotNum - ali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Level_950 - 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Vel_950 - fps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Flow_950 – cfs/gpm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TotFlow_950 –cf/gal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Rain_950 – 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Battery_950 – V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Level_PT – 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Flow_PT (Level_PT with HvF or AV_PipeFlow_cfs) – cfs/gpm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Level_Bubbl - 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Flow_Bubble – cfs/gpm</a:t>
            </a:r>
          </a:p>
          <a:p>
            <a:pPr marL="342900" indent="-342900">
              <a:buFont typeface="+mj-lt"/>
              <a:buAutoNum type="arabicPeriod"/>
            </a:pPr>
            <a:endParaRPr lang="en-US" sz="1400" b="1"/>
          </a:p>
          <a:p>
            <a:pPr marL="228600" indent="-228600">
              <a:buFont typeface="+mj-lt"/>
              <a:buAutoNum type="arabicPeriod"/>
            </a:pPr>
            <a:endParaRPr lang="en-US" sz="1600" b="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9A0AD9-62A0-4E9B-BD16-84BDC41518B1}"/>
              </a:ext>
            </a:extLst>
          </p:cNvPr>
          <p:cNvSpPr/>
          <p:nvPr/>
        </p:nvSpPr>
        <p:spPr>
          <a:xfrm>
            <a:off x="2955626" y="284418"/>
            <a:ext cx="2241214" cy="66839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General Purpose variables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73294E-6B3B-45C0-8351-766F33B5F446}"/>
              </a:ext>
            </a:extLst>
          </p:cNvPr>
          <p:cNvSpPr/>
          <p:nvPr/>
        </p:nvSpPr>
        <p:spPr>
          <a:xfrm>
            <a:off x="6218225" y="402982"/>
            <a:ext cx="2241214" cy="43126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Measurements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D03C30-30D3-476F-A1D3-88A7E0D671C4}"/>
              </a:ext>
            </a:extLst>
          </p:cNvPr>
          <p:cNvSpPr/>
          <p:nvPr/>
        </p:nvSpPr>
        <p:spPr>
          <a:xfrm>
            <a:off x="2955626" y="1337440"/>
            <a:ext cx="3018150" cy="16312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/>
              <a:t>sampling_on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bottle_size_L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aliquot_vol_mL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bottle_num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/>
              <a:t>pipe_diameter_in</a:t>
            </a:r>
          </a:p>
          <a:p>
            <a:pPr marL="342900" indent="-342900">
              <a:buFont typeface="+mj-lt"/>
              <a:buAutoNum type="arabicPeriod"/>
            </a:pPr>
            <a:endParaRPr lang="en-US" sz="1400" b="1"/>
          </a:p>
          <a:p>
            <a:pPr marL="228600" indent="-228600">
              <a:buFont typeface="+mj-lt"/>
              <a:buAutoNum type="arabicPeriod"/>
            </a:pPr>
            <a:endParaRPr lang="en-US" sz="1600" b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EC87596-722D-4AA8-82AD-01C4A9A11813}"/>
              </a:ext>
            </a:extLst>
          </p:cNvPr>
          <p:cNvSpPr/>
          <p:nvPr/>
        </p:nvSpPr>
        <p:spPr>
          <a:xfrm>
            <a:off x="441026" y="2792984"/>
            <a:ext cx="1730206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flow_pacing_units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C3CF688-4384-4749-BFE6-B2DC98A0E861}"/>
              </a:ext>
            </a:extLst>
          </p:cNvPr>
          <p:cNvSpPr/>
          <p:nvPr/>
        </p:nvSpPr>
        <p:spPr>
          <a:xfrm>
            <a:off x="418321" y="3279852"/>
            <a:ext cx="2241214" cy="32657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flow_pacing_data_source_units</a:t>
            </a:r>
          </a:p>
        </p:txBody>
      </p:sp>
    </p:spTree>
    <p:extLst>
      <p:ext uri="{BB962C8B-B14F-4D97-AF65-F5344CB8AC3E}">
        <p14:creationId xmlns:p14="http://schemas.microsoft.com/office/powerpoint/2010/main" val="249529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46E974-653E-474F-8823-7A9978795943}"/>
              </a:ext>
            </a:extLst>
          </p:cNvPr>
          <p:cNvSpPr/>
          <p:nvPr/>
        </p:nvSpPr>
        <p:spPr>
          <a:xfrm>
            <a:off x="381121" y="710665"/>
            <a:ext cx="2434495" cy="10815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M3 = Active</a:t>
            </a:r>
          </a:p>
          <a:p>
            <a:pPr algn="ctr"/>
            <a:r>
              <a:rPr lang="en-US" sz="1200"/>
              <a:t>M4 = Not Active</a:t>
            </a:r>
          </a:p>
          <a:p>
            <a:pPr algn="ctr"/>
            <a:r>
              <a:rPr lang="en-US" sz="1200"/>
              <a:t>sample_weighting == ‘FLOW’</a:t>
            </a:r>
          </a:p>
          <a:p>
            <a:pPr algn="ctr"/>
            <a:r>
              <a:rPr lang="en-US" sz="1200"/>
              <a:t>Meta Index set to flow data source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CD44C4-620D-4FDD-A2B0-C1B706BBB389}"/>
              </a:ext>
            </a:extLst>
          </p:cNvPr>
          <p:cNvSpPr/>
          <p:nvPr/>
        </p:nvSpPr>
        <p:spPr>
          <a:xfrm>
            <a:off x="246987" y="178446"/>
            <a:ext cx="2702768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FLOW weighted sampling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38F5A0-69B5-4A4D-89CC-40A53F0FF939}"/>
              </a:ext>
            </a:extLst>
          </p:cNvPr>
          <p:cNvSpPr/>
          <p:nvPr/>
        </p:nvSpPr>
        <p:spPr>
          <a:xfrm>
            <a:off x="9270285" y="248101"/>
            <a:ext cx="2867688" cy="77895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/>
              <a:t>pacing_weighting()</a:t>
            </a:r>
            <a:endParaRPr lang="en-US" sz="1000" b="1"/>
          </a:p>
          <a:p>
            <a:pPr lvl="1" indent="-344488"/>
            <a:r>
              <a:rPr lang="en-US" sz="1000"/>
              <a:t>Checks M3 and M4 to determine if flow weighting or time weighting</a:t>
            </a:r>
          </a:p>
          <a:p>
            <a:pPr lvl="1" indent="-344488"/>
            <a:r>
              <a:rPr lang="en-US" sz="1000" b="1"/>
              <a:t>ret: “TIME” or “FLOW”</a:t>
            </a:r>
          </a:p>
          <a:p>
            <a:pPr lvl="1" indent="-344488"/>
            <a:endParaRPr lang="en-US" sz="100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424FDE3-F374-472C-B65C-8C120D5620E3}"/>
              </a:ext>
            </a:extLst>
          </p:cNvPr>
          <p:cNvSpPr/>
          <p:nvPr/>
        </p:nvSpPr>
        <p:spPr>
          <a:xfrm>
            <a:off x="593482" y="1911249"/>
            <a:ext cx="2009775" cy="63817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At 1min interval….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400E478-CDD3-45AF-83CC-D57252CF57B3}"/>
              </a:ext>
            </a:extLst>
          </p:cNvPr>
          <p:cNvGrpSpPr/>
          <p:nvPr/>
        </p:nvGrpSpPr>
        <p:grpSpPr>
          <a:xfrm>
            <a:off x="3305293" y="34672"/>
            <a:ext cx="6133568" cy="6656507"/>
            <a:chOff x="3456040" y="239181"/>
            <a:chExt cx="6133568" cy="665650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853A310-D26F-45E1-BF68-A78F9E93C3BA}"/>
                </a:ext>
              </a:extLst>
            </p:cNvPr>
            <p:cNvSpPr/>
            <p:nvPr/>
          </p:nvSpPr>
          <p:spPr>
            <a:xfrm>
              <a:off x="4950380" y="2377720"/>
              <a:ext cx="2867684" cy="78096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/>
                <a:t>get_sample_pacing()</a:t>
              </a:r>
              <a:endParaRPr lang="en-US" sz="1200"/>
            </a:p>
            <a:p>
              <a:pPr lvl="1" indent="-344488"/>
              <a:r>
                <a:rPr lang="en-US" sz="1200"/>
                <a:t>read current pacing and bottle_num</a:t>
              </a:r>
            </a:p>
            <a:p>
              <a:pPr lvl="1" indent="-344488"/>
              <a:r>
                <a:rPr lang="en-US" sz="1200"/>
                <a:t>compare to previous values</a:t>
              </a:r>
            </a:p>
            <a:p>
              <a:pPr lvl="1" indent="-344488"/>
              <a:endParaRPr lang="en-US" sz="120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64A007-8433-4908-A78B-C9CA245A6CAE}"/>
                </a:ext>
              </a:extLst>
            </p:cNvPr>
            <p:cNvSpPr/>
            <p:nvPr/>
          </p:nvSpPr>
          <p:spPr>
            <a:xfrm>
              <a:off x="4112815" y="3392289"/>
              <a:ext cx="2340622" cy="229194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b="1"/>
                <a:t>If </a:t>
              </a:r>
              <a:r>
                <a:rPr lang="en-US" sz="1000"/>
                <a:t>pacing same </a:t>
              </a:r>
              <a:r>
                <a:rPr lang="en-US" sz="1000" b="1"/>
                <a:t>then</a:t>
              </a:r>
              <a:r>
                <a:rPr lang="en-US" sz="1000"/>
                <a:t> check bottle number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A94469A-2580-46E5-8A51-EE811D1AB310}"/>
                </a:ext>
              </a:extLst>
            </p:cNvPr>
            <p:cNvSpPr/>
            <p:nvPr/>
          </p:nvSpPr>
          <p:spPr>
            <a:xfrm>
              <a:off x="6974517" y="3381594"/>
              <a:ext cx="1386487" cy="229194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b="1"/>
                <a:t>If</a:t>
              </a:r>
              <a:r>
                <a:rPr lang="en-US" sz="1000"/>
                <a:t> pacing changed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4F97EBF-CA54-41C5-883E-BCD3EE874680}"/>
                </a:ext>
              </a:extLst>
            </p:cNvPr>
            <p:cNvSpPr/>
            <p:nvPr/>
          </p:nvSpPr>
          <p:spPr>
            <a:xfrm>
              <a:off x="3456040" y="3830308"/>
              <a:ext cx="1484655" cy="338731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b="1"/>
                <a:t>If</a:t>
              </a:r>
              <a:r>
                <a:rPr lang="en-US" sz="1000"/>
                <a:t> Bottle number same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187E204-30FF-48C7-BB02-2AEDE6E58C60}"/>
                </a:ext>
              </a:extLst>
            </p:cNvPr>
            <p:cNvSpPr/>
            <p:nvPr/>
          </p:nvSpPr>
          <p:spPr>
            <a:xfrm>
              <a:off x="5182375" y="3855085"/>
              <a:ext cx="1301256" cy="319681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b="1"/>
                <a:t>If</a:t>
              </a:r>
              <a:r>
                <a:rPr lang="en-US" sz="1000"/>
                <a:t> Bottle number changed (manually)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89F238-9B09-4289-9683-6BC1A33078FC}"/>
                </a:ext>
              </a:extLst>
            </p:cNvPr>
            <p:cNvSpPr/>
            <p:nvPr/>
          </p:nvSpPr>
          <p:spPr>
            <a:xfrm>
              <a:off x="5217415" y="4498724"/>
              <a:ext cx="1316612" cy="22919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aliquots_in_bottle = 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192B2F-C99A-47F8-9BD3-2F5E27E650BB}"/>
                </a:ext>
              </a:extLst>
            </p:cNvPr>
            <p:cNvSpPr/>
            <p:nvPr/>
          </p:nvSpPr>
          <p:spPr>
            <a:xfrm>
              <a:off x="7013709" y="4642758"/>
              <a:ext cx="1373729" cy="22919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aliquots_in_bottle = 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D492EB5-F250-49A9-A5A3-B4EFD14DEAA1}"/>
                </a:ext>
              </a:extLst>
            </p:cNvPr>
            <p:cNvSpPr/>
            <p:nvPr/>
          </p:nvSpPr>
          <p:spPr>
            <a:xfrm>
              <a:off x="8422905" y="4649714"/>
              <a:ext cx="1166703" cy="22919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vol_in_bottle = 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FBFDD4-A2DB-4379-973A-99D82D0A5CC8}"/>
                </a:ext>
              </a:extLst>
            </p:cNvPr>
            <p:cNvSpPr/>
            <p:nvPr/>
          </p:nvSpPr>
          <p:spPr>
            <a:xfrm>
              <a:off x="5294677" y="4779825"/>
              <a:ext cx="1162088" cy="14811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vol_in_bottle = 0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FF06601-4932-4BE8-BBF9-822F25FCE160}"/>
                </a:ext>
              </a:extLst>
            </p:cNvPr>
            <p:cNvSpPr/>
            <p:nvPr/>
          </p:nvSpPr>
          <p:spPr>
            <a:xfrm>
              <a:off x="7003169" y="3866108"/>
              <a:ext cx="1766316" cy="2291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bottle_and_pacing_change()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936BF60-5E7B-46E9-97A2-CA4A3C0B9B47}"/>
                </a:ext>
              </a:extLst>
            </p:cNvPr>
            <p:cNvSpPr/>
            <p:nvPr/>
          </p:nvSpPr>
          <p:spPr>
            <a:xfrm>
              <a:off x="3502622" y="239181"/>
              <a:ext cx="5488249" cy="115797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/>
                <a:t>flow_weighted_sampling(flow)</a:t>
              </a:r>
              <a:endParaRPr lang="en-US" sz="1200"/>
            </a:p>
            <a:p>
              <a:pPr lvl="1" indent="-344488"/>
              <a:r>
                <a:rPr lang="en-US" sz="1200"/>
                <a:t>flow argument from Meta Index (choose flow data source)</a:t>
              </a:r>
            </a:p>
            <a:p>
              <a:pPr lvl="1" indent="-344488"/>
              <a:r>
                <a:rPr lang="en-US" sz="1200"/>
                <a:t>Check if sampling is on (sample_on==1)</a:t>
              </a:r>
            </a:p>
            <a:p>
              <a:pPr lvl="1" indent="-344488"/>
              <a:r>
                <a:rPr lang="en-US" sz="1200"/>
                <a:t>Check if sampling is flow-weighted (get_pacing_weighting == “FLOW”)</a:t>
              </a:r>
            </a:p>
            <a:p>
              <a:pPr lvl="1" indent="-344488"/>
              <a:r>
                <a:rPr lang="en-US" sz="1200"/>
                <a:t>Get flow data source and pacing units (cfs/gpm vs cf/gal)</a:t>
              </a:r>
            </a:p>
            <a:p>
              <a:pPr lvl="1" indent="-344488"/>
              <a:endParaRPr lang="en-US" sz="12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C9F146A-EF94-463D-96F9-6C8C79FEE5D5}"/>
                </a:ext>
              </a:extLst>
            </p:cNvPr>
            <p:cNvSpPr/>
            <p:nvPr/>
          </p:nvSpPr>
          <p:spPr>
            <a:xfrm>
              <a:off x="4940695" y="1453365"/>
              <a:ext cx="2986420" cy="83271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If</a:t>
              </a:r>
              <a:r>
                <a:rPr lang="en-US" sz="1100"/>
                <a:t> sample_on=1</a:t>
              </a:r>
            </a:p>
            <a:p>
              <a:pPr algn="ctr"/>
              <a:r>
                <a:rPr lang="en-US" sz="1100" b="1"/>
                <a:t>If</a:t>
              </a:r>
              <a:r>
                <a:rPr lang="en-US" sz="1100"/>
                <a:t> pacing_weighting=“FLOW”</a:t>
              </a:r>
            </a:p>
            <a:p>
              <a:pPr algn="ctr"/>
              <a:r>
                <a:rPr lang="en-US" sz="1100" b="1"/>
                <a:t>Then</a:t>
              </a:r>
              <a:r>
                <a:rPr lang="en-US" sz="1100"/>
                <a:t> calculate incremental flow volume and </a:t>
              </a:r>
              <a:r>
                <a:rPr lang="en-US" sz="1100" b="1"/>
                <a:t>add to running_total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5ABDB66-2BC8-4588-B939-A396FCE7A988}"/>
                </a:ext>
              </a:extLst>
            </p:cNvPr>
            <p:cNvCxnSpPr>
              <a:cxnSpLocks/>
            </p:cNvCxnSpPr>
            <p:nvPr/>
          </p:nvCxnSpPr>
          <p:spPr>
            <a:xfrm>
              <a:off x="5160419" y="1362480"/>
              <a:ext cx="0" cy="22036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51E3457-F0F7-4589-937A-5C2B9C4681C0}"/>
                </a:ext>
              </a:extLst>
            </p:cNvPr>
            <p:cNvCxnSpPr>
              <a:cxnSpLocks/>
            </p:cNvCxnSpPr>
            <p:nvPr/>
          </p:nvCxnSpPr>
          <p:spPr>
            <a:xfrm>
              <a:off x="5157633" y="2076575"/>
              <a:ext cx="0" cy="2706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6415E0F-89C3-4DF5-A748-3F36E10A7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8854" y="3188061"/>
              <a:ext cx="130945" cy="2136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9C2D358-4F26-4B06-B49D-E8C0612EA5EC}"/>
                </a:ext>
              </a:extLst>
            </p:cNvPr>
            <p:cNvCxnSpPr>
              <a:cxnSpLocks/>
            </p:cNvCxnSpPr>
            <p:nvPr/>
          </p:nvCxnSpPr>
          <p:spPr>
            <a:xfrm>
              <a:off x="7154950" y="3195190"/>
              <a:ext cx="123183" cy="1866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15EE854-D985-48D7-9CCC-4E39C2CC5DC5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95" y="3664555"/>
              <a:ext cx="0" cy="1950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26157D7-C705-4080-BD38-B3E6879AE3C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793" y="3635217"/>
              <a:ext cx="68986" cy="2076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7AAE8AF-4DDE-454A-BCE3-FD3F358D2FF4}"/>
                </a:ext>
              </a:extLst>
            </p:cNvPr>
            <p:cNvCxnSpPr>
              <a:cxnSpLocks/>
            </p:cNvCxnSpPr>
            <p:nvPr/>
          </p:nvCxnSpPr>
          <p:spPr>
            <a:xfrm>
              <a:off x="7528313" y="3645143"/>
              <a:ext cx="123183" cy="1866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3A1DB92-10A6-43DF-A225-D9A09680D27F}"/>
                </a:ext>
              </a:extLst>
            </p:cNvPr>
            <p:cNvSpPr/>
            <p:nvPr/>
          </p:nvSpPr>
          <p:spPr>
            <a:xfrm>
              <a:off x="4812077" y="5214145"/>
              <a:ext cx="3265905" cy="53652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If</a:t>
              </a:r>
              <a:r>
                <a:rPr lang="en-US" sz="1100"/>
                <a:t> running_total volume &gt;= sample_pacing </a:t>
              </a:r>
              <a:r>
                <a:rPr lang="en-US" sz="1100" b="1"/>
                <a:t>then</a:t>
              </a:r>
              <a:r>
                <a:rPr lang="en-US" sz="1100"/>
                <a:t> trigger sampler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0F2ADF7-EC2B-429D-8ACC-4ABB5BF9CFA1}"/>
                </a:ext>
              </a:extLst>
            </p:cNvPr>
            <p:cNvSpPr/>
            <p:nvPr/>
          </p:nvSpPr>
          <p:spPr>
            <a:xfrm>
              <a:off x="5094425" y="5812606"/>
              <a:ext cx="2716035" cy="50309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/>
                <a:t>trigger_sampler()</a:t>
              </a:r>
              <a:endParaRPr lang="en-US" sz="1200"/>
            </a:p>
            <a:p>
              <a:pPr lvl="1" indent="-344488"/>
              <a:r>
                <a:rPr lang="en-US" sz="1200"/>
                <a:t>Turn on SW12 for 0.5 sec then off</a:t>
              </a:r>
            </a:p>
            <a:p>
              <a:pPr lvl="1" indent="-344488"/>
              <a:endParaRPr lang="en-US" sz="12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1512F4-CA6F-41BF-8155-0C12B3419AED}"/>
                </a:ext>
              </a:extLst>
            </p:cNvPr>
            <p:cNvSpPr/>
            <p:nvPr/>
          </p:nvSpPr>
          <p:spPr>
            <a:xfrm>
              <a:off x="4500719" y="6366196"/>
              <a:ext cx="1587213" cy="22919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aliquots_in_bottle += 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F15C956-0458-4ABB-AFD2-60B50C1B3562}"/>
                </a:ext>
              </a:extLst>
            </p:cNvPr>
            <p:cNvSpPr/>
            <p:nvPr/>
          </p:nvSpPr>
          <p:spPr>
            <a:xfrm>
              <a:off x="4500719" y="6666494"/>
              <a:ext cx="1587213" cy="22919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vol_in_bottle += ali_vol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96A7075-11F4-4B7C-9239-6269A9DB3049}"/>
                </a:ext>
              </a:extLst>
            </p:cNvPr>
            <p:cNvSpPr/>
            <p:nvPr/>
          </p:nvSpPr>
          <p:spPr>
            <a:xfrm>
              <a:off x="6360259" y="6378728"/>
              <a:ext cx="1587213" cy="22919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time_last_sample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20415FE-E72E-4A6F-9717-9D7298BA2F7B}"/>
                </a:ext>
              </a:extLst>
            </p:cNvPr>
            <p:cNvSpPr/>
            <p:nvPr/>
          </p:nvSpPr>
          <p:spPr>
            <a:xfrm>
              <a:off x="6384222" y="6666494"/>
              <a:ext cx="1587213" cy="22919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sample_log</a:t>
              </a:r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82D5224-5401-4828-9BF3-3A8EA5D01C58}"/>
              </a:ext>
            </a:extLst>
          </p:cNvPr>
          <p:cNvSpPr/>
          <p:nvPr/>
        </p:nvSpPr>
        <p:spPr>
          <a:xfrm>
            <a:off x="9586814" y="3202893"/>
            <a:ext cx="2551159" cy="13050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/>
              <a:t>get_sample_pacing()</a:t>
            </a:r>
          </a:p>
          <a:p>
            <a:pPr algn="ctr"/>
            <a:r>
              <a:rPr lang="en-US" sz="1000"/>
              <a:t>Checks flow data and pacing volume units (cfs,cf/gpm,gal)</a:t>
            </a:r>
          </a:p>
          <a:p>
            <a:pPr algn="ctr"/>
            <a:r>
              <a:rPr lang="en-US" sz="1000"/>
              <a:t>Check GP variable “sample_pacing”</a:t>
            </a:r>
          </a:p>
          <a:p>
            <a:pPr algn="ctr"/>
            <a:r>
              <a:rPr lang="en-US" sz="1000"/>
              <a:t>Check GP variable “bottle_num”</a:t>
            </a:r>
          </a:p>
          <a:p>
            <a:pPr algn="ctr"/>
            <a:r>
              <a:rPr lang="en-US" sz="1000"/>
              <a:t>Update values and log changes</a:t>
            </a:r>
          </a:p>
          <a:p>
            <a:pPr algn="ctr"/>
            <a:r>
              <a:rPr lang="en-US" sz="1000" b="1"/>
              <a:t>ret: sample_pacing, bottle_num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8A4B755-73B4-424A-B42E-D89F146C7062}"/>
              </a:ext>
            </a:extLst>
          </p:cNvPr>
          <p:cNvSpPr/>
          <p:nvPr/>
        </p:nvSpPr>
        <p:spPr>
          <a:xfrm>
            <a:off x="6851908" y="3938139"/>
            <a:ext cx="2439001" cy="196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sample_pacing = SamplePacin M1 Offset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8CCDFA-7A6C-46ED-9213-D5E6A4DC167C}"/>
              </a:ext>
            </a:extLst>
          </p:cNvPr>
          <p:cNvSpPr/>
          <p:nvPr/>
        </p:nvSpPr>
        <p:spPr>
          <a:xfrm>
            <a:off x="4894995" y="4042805"/>
            <a:ext cx="1715233" cy="2241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bottle_num = BottleNum M2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0D8D0DC-7275-4A17-8A0C-FC149E22D069}"/>
              </a:ext>
            </a:extLst>
          </p:cNvPr>
          <p:cNvSpPr/>
          <p:nvPr/>
        </p:nvSpPr>
        <p:spPr>
          <a:xfrm>
            <a:off x="6851908" y="4170477"/>
            <a:ext cx="2230614" cy="2266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bottle_num = BottleNum M2 Offset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9B0843D-A143-4D65-B47B-15B772334D2B}"/>
              </a:ext>
            </a:extLst>
          </p:cNvPr>
          <p:cNvSpPr/>
          <p:nvPr/>
        </p:nvSpPr>
        <p:spPr>
          <a:xfrm>
            <a:off x="7927235" y="6370455"/>
            <a:ext cx="3090918" cy="20612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g_running_total = g_running_total – sample_pacing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1ADD71-49E2-43B0-AC4D-B216401126CD}"/>
              </a:ext>
            </a:extLst>
          </p:cNvPr>
          <p:cNvSpPr/>
          <p:nvPr/>
        </p:nvSpPr>
        <p:spPr>
          <a:xfrm>
            <a:off x="7979484" y="1411414"/>
            <a:ext cx="2054195" cy="1972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incremental_vol  = flow  (x60 if cfs)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B9A22C-28C0-4355-AC56-97D9A6DB1C64}"/>
              </a:ext>
            </a:extLst>
          </p:cNvPr>
          <p:cNvSpPr/>
          <p:nvPr/>
        </p:nvSpPr>
        <p:spPr>
          <a:xfrm>
            <a:off x="7979484" y="1688713"/>
            <a:ext cx="2986420" cy="22919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g_running_total = g_running_total + incremental_vol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925A739-FAEF-439F-81C1-36935717EFEB}"/>
              </a:ext>
            </a:extLst>
          </p:cNvPr>
          <p:cNvCxnSpPr>
            <a:cxnSpLocks/>
          </p:cNvCxnSpPr>
          <p:nvPr/>
        </p:nvCxnSpPr>
        <p:spPr>
          <a:xfrm>
            <a:off x="5712046" y="4757198"/>
            <a:ext cx="0" cy="235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0EB56F6-A81C-4A01-A798-EC3E227AC545}"/>
              </a:ext>
            </a:extLst>
          </p:cNvPr>
          <p:cNvCxnSpPr>
            <a:cxnSpLocks/>
          </p:cNvCxnSpPr>
          <p:nvPr/>
        </p:nvCxnSpPr>
        <p:spPr>
          <a:xfrm>
            <a:off x="7003118" y="4736005"/>
            <a:ext cx="0" cy="2690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D6C3F74-8643-4DE7-9C8B-8A42B59B6281}"/>
              </a:ext>
            </a:extLst>
          </p:cNvPr>
          <p:cNvCxnSpPr>
            <a:cxnSpLocks/>
          </p:cNvCxnSpPr>
          <p:nvPr/>
        </p:nvCxnSpPr>
        <p:spPr>
          <a:xfrm>
            <a:off x="4789948" y="5436563"/>
            <a:ext cx="0" cy="343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E04DA47D-281A-482C-A572-CDB02F96CA59}"/>
              </a:ext>
            </a:extLst>
          </p:cNvPr>
          <p:cNvSpPr/>
          <p:nvPr/>
        </p:nvSpPr>
        <p:spPr>
          <a:xfrm>
            <a:off x="8579152" y="5773152"/>
            <a:ext cx="2439001" cy="53652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/>
              <a:t>Subtract pacing from running_total volume, carry remainder to next measurement</a:t>
            </a:r>
            <a:endParaRPr lang="en-US" sz="100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7F1267F-6309-46A3-B2E9-A1874ADA799A}"/>
              </a:ext>
            </a:extLst>
          </p:cNvPr>
          <p:cNvCxnSpPr>
            <a:cxnSpLocks/>
          </p:cNvCxnSpPr>
          <p:nvPr/>
        </p:nvCxnSpPr>
        <p:spPr>
          <a:xfrm>
            <a:off x="7752998" y="5436563"/>
            <a:ext cx="0" cy="343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A6DA460-0BB9-421A-B8EA-EC9746020CB2}"/>
              </a:ext>
            </a:extLst>
          </p:cNvPr>
          <p:cNvCxnSpPr>
            <a:cxnSpLocks/>
          </p:cNvCxnSpPr>
          <p:nvPr/>
        </p:nvCxnSpPr>
        <p:spPr>
          <a:xfrm>
            <a:off x="7631476" y="1192643"/>
            <a:ext cx="0" cy="220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E22CD23-DBCC-429A-8B07-9C9D0D39A41A}"/>
              </a:ext>
            </a:extLst>
          </p:cNvPr>
          <p:cNvCxnSpPr>
            <a:cxnSpLocks/>
          </p:cNvCxnSpPr>
          <p:nvPr/>
        </p:nvCxnSpPr>
        <p:spPr>
          <a:xfrm>
            <a:off x="7517013" y="1902558"/>
            <a:ext cx="0" cy="2706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024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B111F6-B8C7-42FD-9778-7254CD333305}"/>
              </a:ext>
            </a:extLst>
          </p:cNvPr>
          <p:cNvSpPr txBox="1"/>
          <p:nvPr/>
        </p:nvSpPr>
        <p:spPr>
          <a:xfrm>
            <a:off x="2850880" y="732763"/>
            <a:ext cx="229588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M3 Incr_Flow is Active</a:t>
            </a:r>
          </a:p>
          <a:p>
            <a:r>
              <a:rPr lang="en-US"/>
              <a:t>M4 is Not Active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EE8B6-97E6-43C6-A248-C76B075A4CB7}"/>
              </a:ext>
            </a:extLst>
          </p:cNvPr>
          <p:cNvSpPr txBox="1"/>
          <p:nvPr/>
        </p:nvSpPr>
        <p:spPr>
          <a:xfrm>
            <a:off x="860215" y="1472241"/>
            <a:ext cx="9019777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Meta index = flow data source used to calculate incremental pacing</a:t>
            </a:r>
          </a:p>
          <a:p>
            <a:endParaRPr lang="en-US"/>
          </a:p>
          <a:p>
            <a:r>
              <a:rPr lang="en-US"/>
              <a:t>If using Flow_950, M3 Meta index = 8</a:t>
            </a:r>
          </a:p>
          <a:p>
            <a:r>
              <a:rPr lang="en-US"/>
              <a:t>	-flow is read from the Sigma 950 flowmeter, settings must be changed in the 950</a:t>
            </a:r>
          </a:p>
          <a:p>
            <a:r>
              <a:rPr lang="en-US"/>
              <a:t>	-flow units can be in gpm or cfs, flow volume will be in gal or cf accordingly</a:t>
            </a:r>
          </a:p>
          <a:p>
            <a:endParaRPr lang="en-US"/>
          </a:p>
          <a:p>
            <a:r>
              <a:rPr lang="en-US"/>
              <a:t>If using Flow_PT, M3 Meta index = 13</a:t>
            </a:r>
          </a:p>
          <a:p>
            <a:r>
              <a:rPr lang="en-US"/>
              <a:t>	-HvF Table: </a:t>
            </a:r>
          </a:p>
          <a:p>
            <a:r>
              <a:rPr lang="en-US"/>
              <a:t>		-flow can be calculated using HvF and Level_PT (M12)</a:t>
            </a:r>
          </a:p>
          <a:p>
            <a:r>
              <a:rPr lang="en-US"/>
              <a:t>		-set Meta Index of M13 to 12 (Level_PT)</a:t>
            </a:r>
          </a:p>
          <a:p>
            <a:r>
              <a:rPr lang="en-US"/>
              <a:t>		-use script “HvF_table”</a:t>
            </a:r>
          </a:p>
          <a:p>
            <a:r>
              <a:rPr lang="en-US"/>
              <a:t>		-@MEASUREMENT HvF_table has to have the stage,flow pairs in STAGETBL</a:t>
            </a:r>
          </a:p>
          <a:p>
            <a:endParaRPr lang="en-US"/>
          </a:p>
          <a:p>
            <a:r>
              <a:rPr lang="en-US"/>
              <a:t>	-Area Velocity:</a:t>
            </a:r>
          </a:p>
          <a:p>
            <a:r>
              <a:rPr lang="en-US"/>
              <a:t>		-flow can be calculated using Vel_950 (M7) and Level_PT (M12)</a:t>
            </a:r>
          </a:p>
          <a:p>
            <a:r>
              <a:rPr lang="en-US"/>
              <a:t>		-set general purpose variable “pipe_diameter_in”</a:t>
            </a:r>
          </a:p>
          <a:p>
            <a:r>
              <a:rPr lang="en-US"/>
              <a:t>		-set Meta Index of M13 to 7 (Vel_950)</a:t>
            </a:r>
          </a:p>
          <a:p>
            <a:r>
              <a:rPr lang="en-US"/>
              <a:t>		-use script “AV_PipeFlow_cfs” or “AV_PipeFlow_gpm” </a:t>
            </a:r>
          </a:p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5516A7-0111-4B1E-8797-4C1E34A12CD0}"/>
              </a:ext>
            </a:extLst>
          </p:cNvPr>
          <p:cNvSpPr/>
          <p:nvPr/>
        </p:nvSpPr>
        <p:spPr>
          <a:xfrm>
            <a:off x="785570" y="162161"/>
            <a:ext cx="2702768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FLOW weighted sampling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512C5-9DCB-47A5-AF26-676A21826469}"/>
              </a:ext>
            </a:extLst>
          </p:cNvPr>
          <p:cNvSpPr txBox="1"/>
          <p:nvPr/>
        </p:nvSpPr>
        <p:spPr>
          <a:xfrm>
            <a:off x="785570" y="732763"/>
            <a:ext cx="173945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M1 SamplePacin</a:t>
            </a:r>
          </a:p>
          <a:p>
            <a:r>
              <a:rPr lang="en-US"/>
              <a:t>units = cf or gal</a:t>
            </a:r>
          </a:p>
        </p:txBody>
      </p:sp>
    </p:spTree>
    <p:extLst>
      <p:ext uri="{BB962C8B-B14F-4D97-AF65-F5344CB8AC3E}">
        <p14:creationId xmlns:p14="http://schemas.microsoft.com/office/powerpoint/2010/main" val="351488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46E974-653E-474F-8823-7A9978795943}"/>
              </a:ext>
            </a:extLst>
          </p:cNvPr>
          <p:cNvSpPr/>
          <p:nvPr/>
        </p:nvSpPr>
        <p:spPr>
          <a:xfrm>
            <a:off x="381121" y="710665"/>
            <a:ext cx="2434495" cy="10815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M3 = Not Active</a:t>
            </a:r>
          </a:p>
          <a:p>
            <a:pPr algn="ctr"/>
            <a:r>
              <a:rPr lang="en-US" sz="1200"/>
              <a:t>M4 = Active</a:t>
            </a:r>
          </a:p>
          <a:p>
            <a:pPr algn="ctr"/>
            <a:r>
              <a:rPr lang="en-US" sz="1200"/>
              <a:t>sample_weighting == ‘TIME’</a:t>
            </a:r>
          </a:p>
          <a:p>
            <a:pPr algn="ctr"/>
            <a:r>
              <a:rPr lang="en-US" sz="1200"/>
              <a:t>Meta Index doesn’t matter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CD44C4-620D-4FDD-A2B0-C1B706BBB389}"/>
              </a:ext>
            </a:extLst>
          </p:cNvPr>
          <p:cNvSpPr/>
          <p:nvPr/>
        </p:nvSpPr>
        <p:spPr>
          <a:xfrm>
            <a:off x="246987" y="178446"/>
            <a:ext cx="2702768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TIME weighted sampling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38F5A0-69B5-4A4D-89CC-40A53F0FF939}"/>
              </a:ext>
            </a:extLst>
          </p:cNvPr>
          <p:cNvSpPr/>
          <p:nvPr/>
        </p:nvSpPr>
        <p:spPr>
          <a:xfrm>
            <a:off x="9233820" y="1402699"/>
            <a:ext cx="2867688" cy="77895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/>
              <a:t>pacing_weighting()</a:t>
            </a:r>
            <a:endParaRPr lang="en-US" sz="1000" b="1"/>
          </a:p>
          <a:p>
            <a:pPr lvl="1" indent="-344488"/>
            <a:r>
              <a:rPr lang="en-US" sz="1000"/>
              <a:t>Checks M3 and M4 to determine if flow weighting or time weighting</a:t>
            </a:r>
          </a:p>
          <a:p>
            <a:pPr lvl="1" indent="-344488"/>
            <a:r>
              <a:rPr lang="en-US" sz="1000" b="1"/>
              <a:t>ret: “TIME” or “FLOW”</a:t>
            </a:r>
          </a:p>
          <a:p>
            <a:pPr lvl="1" indent="-344488"/>
            <a:endParaRPr lang="en-US" sz="100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424FDE3-F374-472C-B65C-8C120D5620E3}"/>
              </a:ext>
            </a:extLst>
          </p:cNvPr>
          <p:cNvSpPr/>
          <p:nvPr/>
        </p:nvSpPr>
        <p:spPr>
          <a:xfrm>
            <a:off x="593482" y="1911249"/>
            <a:ext cx="2009775" cy="63817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At 1min interval….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371115-AAF7-42D5-BD26-822162F13821}"/>
              </a:ext>
            </a:extLst>
          </p:cNvPr>
          <p:cNvGrpSpPr/>
          <p:nvPr/>
        </p:nvGrpSpPr>
        <p:grpSpPr>
          <a:xfrm>
            <a:off x="3412836" y="1251419"/>
            <a:ext cx="7918827" cy="4408833"/>
            <a:chOff x="3282207" y="25919"/>
            <a:chExt cx="7918827" cy="44088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9252C2D-2FBF-443A-B82B-7EA37D560DC9}"/>
                </a:ext>
              </a:extLst>
            </p:cNvPr>
            <p:cNvGrpSpPr/>
            <p:nvPr/>
          </p:nvGrpSpPr>
          <p:grpSpPr>
            <a:xfrm>
              <a:off x="3282207" y="25919"/>
              <a:ext cx="7918827" cy="4408833"/>
              <a:chOff x="3351875" y="34672"/>
              <a:chExt cx="7918827" cy="4408833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400E478-CDD3-45AF-83CC-D57252CF57B3}"/>
                  </a:ext>
                </a:extLst>
              </p:cNvPr>
              <p:cNvGrpSpPr/>
              <p:nvPr/>
            </p:nvGrpSpPr>
            <p:grpSpPr>
              <a:xfrm>
                <a:off x="3351875" y="34672"/>
                <a:ext cx="5488249" cy="4366207"/>
                <a:chOff x="3502622" y="239181"/>
                <a:chExt cx="5488249" cy="4366207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B936BF60-5E7B-46E9-97A2-CA4A3C0B9B47}"/>
                    </a:ext>
                  </a:extLst>
                </p:cNvPr>
                <p:cNvSpPr/>
                <p:nvPr/>
              </p:nvSpPr>
              <p:spPr>
                <a:xfrm>
                  <a:off x="3502622" y="239181"/>
                  <a:ext cx="5488249" cy="1157971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600"/>
                    <a:t>time_weighted_sampling(flow)</a:t>
                  </a:r>
                  <a:endParaRPr lang="en-US" sz="1200"/>
                </a:p>
                <a:p>
                  <a:pPr lvl="1" indent="-344488"/>
                  <a:r>
                    <a:rPr lang="en-US" sz="1200"/>
                    <a:t>Check if sampling is on (sample_on==1)</a:t>
                  </a:r>
                </a:p>
                <a:p>
                  <a:pPr lvl="1" indent="-344488"/>
                  <a:r>
                    <a:rPr lang="en-US" sz="1200"/>
                    <a:t>Check if sampling is time-weighted (get_pacing_weighting == “TIME”)</a:t>
                  </a:r>
                </a:p>
                <a:p>
                  <a:pPr lvl="1" indent="-344488"/>
                  <a:r>
                    <a:rPr lang="en-US" sz="1200"/>
                    <a:t>Check sample_pacing (time between samples)</a:t>
                  </a:r>
                </a:p>
                <a:p>
                  <a:pPr lvl="1" indent="-344488"/>
                  <a:r>
                    <a:rPr lang="en-US" sz="1200"/>
                    <a:t>Get time pacing increment (should be 1min) – set by the M4 meas interval</a:t>
                  </a:r>
                </a:p>
                <a:p>
                  <a:pPr lvl="1" indent="-344488"/>
                  <a:endParaRPr lang="en-US" sz="1200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4C9F146A-EF94-463D-96F9-6C8C79FEE5D5}"/>
                    </a:ext>
                  </a:extLst>
                </p:cNvPr>
                <p:cNvSpPr/>
                <p:nvPr/>
              </p:nvSpPr>
              <p:spPr>
                <a:xfrm>
                  <a:off x="4674393" y="1461502"/>
                  <a:ext cx="3371732" cy="832712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/>
                    <a:t>If</a:t>
                  </a:r>
                  <a:r>
                    <a:rPr lang="en-US" sz="1100"/>
                    <a:t> sample_on=1</a:t>
                  </a:r>
                </a:p>
                <a:p>
                  <a:pPr algn="ctr"/>
                  <a:r>
                    <a:rPr lang="en-US" sz="1100" b="1"/>
                    <a:t>If</a:t>
                  </a:r>
                  <a:r>
                    <a:rPr lang="en-US" sz="1100"/>
                    <a:t> pacing_weighting=“TIME”</a:t>
                  </a:r>
                </a:p>
                <a:p>
                  <a:pPr algn="ctr"/>
                  <a:r>
                    <a:rPr lang="en-US" sz="1100" b="1"/>
                    <a:t>Then</a:t>
                  </a:r>
                  <a:r>
                    <a:rPr lang="en-US" sz="1100"/>
                    <a:t> subtract time_pacing_increment from</a:t>
                  </a:r>
                  <a:r>
                    <a:rPr lang="en-US" sz="1100" b="1"/>
                    <a:t> running_total</a:t>
                  </a:r>
                </a:p>
              </p:txBody>
            </p: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C5ABDB66-2BC8-4588-B939-A396FCE7A9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60419" y="1362480"/>
                  <a:ext cx="0" cy="220362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51E3457-F0F7-4589-937A-5C2B9C4681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7633" y="2076575"/>
                  <a:ext cx="0" cy="270653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E3A1DB92-10A6-43DF-A225-D9A09680D27F}"/>
                    </a:ext>
                  </a:extLst>
                </p:cNvPr>
                <p:cNvSpPr/>
                <p:nvPr/>
              </p:nvSpPr>
              <p:spPr>
                <a:xfrm>
                  <a:off x="4780220" y="2453341"/>
                  <a:ext cx="3265905" cy="536529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/>
                    <a:t>If</a:t>
                  </a:r>
                  <a:r>
                    <a:rPr lang="en-US" sz="1100"/>
                    <a:t> running_total volume &lt;= 0 </a:t>
                  </a:r>
                </a:p>
                <a:p>
                  <a:pPr algn="ctr"/>
                  <a:r>
                    <a:rPr lang="en-US" sz="1100" b="1"/>
                    <a:t>then</a:t>
                  </a:r>
                  <a:r>
                    <a:rPr lang="en-US" sz="1100"/>
                    <a:t> trigger sampler</a:t>
                  </a: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40F2ADF7-EC2B-429D-8ACC-4ABB5BF9CFA1}"/>
                    </a:ext>
                  </a:extLst>
                </p:cNvPr>
                <p:cNvSpPr/>
                <p:nvPr/>
              </p:nvSpPr>
              <p:spPr>
                <a:xfrm>
                  <a:off x="5066188" y="3443482"/>
                  <a:ext cx="2716035" cy="50309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600"/>
                    <a:t>trigger_sampler()</a:t>
                  </a:r>
                  <a:endParaRPr lang="en-US" sz="1200"/>
                </a:p>
                <a:p>
                  <a:pPr lvl="1" indent="-344488"/>
                  <a:r>
                    <a:rPr lang="en-US" sz="1200"/>
                    <a:t>Turn on SW12 for 0.5 sec then off</a:t>
                  </a:r>
                </a:p>
                <a:p>
                  <a:pPr lvl="1" indent="-344488"/>
                  <a:endParaRPr lang="en-US" sz="120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261512F4-CA6F-41BF-8155-0C12B3419AED}"/>
                    </a:ext>
                  </a:extLst>
                </p:cNvPr>
                <p:cNvSpPr/>
                <p:nvPr/>
              </p:nvSpPr>
              <p:spPr>
                <a:xfrm>
                  <a:off x="4674393" y="4070943"/>
                  <a:ext cx="1587213" cy="229194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/>
                    <a:t>aliquots_in_bottle += 1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F15C956-0458-4ABB-AFD2-60B50C1B3562}"/>
                    </a:ext>
                  </a:extLst>
                </p:cNvPr>
                <p:cNvSpPr/>
                <p:nvPr/>
              </p:nvSpPr>
              <p:spPr>
                <a:xfrm>
                  <a:off x="4674393" y="4361826"/>
                  <a:ext cx="1587213" cy="229194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/>
                    <a:t>vol_in_bottle += ali_vol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96A7075-11F4-4B7C-9239-6269A9DB3049}"/>
                    </a:ext>
                  </a:extLst>
                </p:cNvPr>
                <p:cNvSpPr/>
                <p:nvPr/>
              </p:nvSpPr>
              <p:spPr>
                <a:xfrm>
                  <a:off x="6326961" y="4070943"/>
                  <a:ext cx="1587213" cy="229194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/>
                    <a:t>time_last_sample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20415FE-E72E-4A6F-9717-9D7298BA2F7B}"/>
                    </a:ext>
                  </a:extLst>
                </p:cNvPr>
                <p:cNvSpPr/>
                <p:nvPr/>
              </p:nvSpPr>
              <p:spPr>
                <a:xfrm>
                  <a:off x="6326960" y="4376194"/>
                  <a:ext cx="1587213" cy="229194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/>
                    <a:t>sample_log</a:t>
                  </a:r>
                </a:p>
              </p:txBody>
            </p:sp>
          </p:grp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8A4B755-73B4-424A-B42E-D89F146C7062}"/>
                  </a:ext>
                </a:extLst>
              </p:cNvPr>
              <p:cNvSpPr/>
              <p:nvPr/>
            </p:nvSpPr>
            <p:spPr>
              <a:xfrm>
                <a:off x="7953359" y="1421651"/>
                <a:ext cx="2439001" cy="19690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/>
                  <a:t>sample_pacing = SamplePacin M1 Offset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9B0843D-A143-4D65-B47B-15B772334D2B}"/>
                  </a:ext>
                </a:extLst>
              </p:cNvPr>
              <p:cNvSpPr/>
              <p:nvPr/>
            </p:nvSpPr>
            <p:spPr>
              <a:xfrm>
                <a:off x="8179784" y="4237378"/>
                <a:ext cx="3090918" cy="206127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/>
                  <a:t>g_running_total =  sample_pacing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91ADD71-49E2-43B0-AC4D-B216401126CD}"/>
                  </a:ext>
                </a:extLst>
              </p:cNvPr>
              <p:cNvSpPr/>
              <p:nvPr/>
            </p:nvSpPr>
            <p:spPr>
              <a:xfrm>
                <a:off x="7953359" y="1702319"/>
                <a:ext cx="2537697" cy="195610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/>
                  <a:t>time_pacing_increment = M4 meas interval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3B9A22C-28C0-4355-AC56-97D9A6DB1C64}"/>
                  </a:ext>
                </a:extLst>
              </p:cNvPr>
              <p:cNvSpPr/>
              <p:nvPr/>
            </p:nvSpPr>
            <p:spPr>
              <a:xfrm>
                <a:off x="7953359" y="1942082"/>
                <a:ext cx="3038669" cy="311626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/>
                  <a:t>g_running_total = g_running_total – time_pacing_increment</a:t>
                </a:r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925A739-FAEF-439F-81C1-36935717E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8206" y="2876147"/>
                <a:ext cx="0" cy="2352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00EB56F6-A81C-4A01-A798-EC3E227AC5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6958" y="2842378"/>
                <a:ext cx="0" cy="26901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E04DA47D-281A-482C-A572-CDB02F96CA59}"/>
                  </a:ext>
                </a:extLst>
              </p:cNvPr>
              <p:cNvSpPr/>
              <p:nvPr/>
            </p:nvSpPr>
            <p:spPr>
              <a:xfrm>
                <a:off x="7895378" y="3635156"/>
                <a:ext cx="2439001" cy="53652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/>
                  <a:t>Set running_total to sample_pacing for the next countdown</a:t>
                </a:r>
                <a:endParaRPr lang="en-US" sz="1000"/>
              </a:p>
            </p:txBody>
          </p:sp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A6DA460-0BB9-421A-B8EA-EC9746020CB2}"/>
                </a:ext>
              </a:extLst>
            </p:cNvPr>
            <p:cNvCxnSpPr>
              <a:cxnSpLocks/>
            </p:cNvCxnSpPr>
            <p:nvPr/>
          </p:nvCxnSpPr>
          <p:spPr>
            <a:xfrm>
              <a:off x="7631476" y="1192643"/>
              <a:ext cx="0" cy="22036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E22CD23-DBCC-429A-8B07-9C9D0D39A41A}"/>
                </a:ext>
              </a:extLst>
            </p:cNvPr>
            <p:cNvCxnSpPr>
              <a:cxnSpLocks/>
            </p:cNvCxnSpPr>
            <p:nvPr/>
          </p:nvCxnSpPr>
          <p:spPr>
            <a:xfrm>
              <a:off x="7517013" y="1902558"/>
              <a:ext cx="0" cy="2706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802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B111F6-B8C7-42FD-9778-7254CD333305}"/>
              </a:ext>
            </a:extLst>
          </p:cNvPr>
          <p:cNvSpPr txBox="1"/>
          <p:nvPr/>
        </p:nvSpPr>
        <p:spPr>
          <a:xfrm>
            <a:off x="2850880" y="1040673"/>
            <a:ext cx="229588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M3 Incr_Flow is Active</a:t>
            </a:r>
          </a:p>
          <a:p>
            <a:r>
              <a:rPr lang="en-US"/>
              <a:t>M4 is Not Active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EE8B6-97E6-43C6-A248-C76B075A4CB7}"/>
              </a:ext>
            </a:extLst>
          </p:cNvPr>
          <p:cNvSpPr txBox="1"/>
          <p:nvPr/>
        </p:nvSpPr>
        <p:spPr>
          <a:xfrm>
            <a:off x="785570" y="1845006"/>
            <a:ext cx="9019777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Meta index = flow data source used to calculate incremental pacing</a:t>
            </a:r>
          </a:p>
          <a:p>
            <a:endParaRPr lang="en-US"/>
          </a:p>
          <a:p>
            <a:r>
              <a:rPr lang="en-US"/>
              <a:t>If using Flow_950, Meta index = 8</a:t>
            </a:r>
          </a:p>
          <a:p>
            <a:r>
              <a:rPr lang="en-US"/>
              <a:t>	-flow is read from the Sigma 950 flowmeter, settings must be changed in the 950</a:t>
            </a:r>
          </a:p>
          <a:p>
            <a:r>
              <a:rPr lang="en-US"/>
              <a:t>	-flow units can be in gpm or cfs, flow volume will be in gal or cf accordingly</a:t>
            </a:r>
          </a:p>
          <a:p>
            <a:endParaRPr lang="en-US"/>
          </a:p>
          <a:p>
            <a:r>
              <a:rPr lang="en-US"/>
              <a:t>If using Flow_PT, Meta index = 13</a:t>
            </a:r>
          </a:p>
          <a:p>
            <a:r>
              <a:rPr lang="en-US"/>
              <a:t>	-flow can be calculated using HvF s</a:t>
            </a:r>
          </a:p>
          <a:p>
            <a:r>
              <a:rPr lang="en-US"/>
              <a:t>		-set Meta Index of M13 to 12 (Level_PT)</a:t>
            </a:r>
          </a:p>
          <a:p>
            <a:r>
              <a:rPr lang="en-US"/>
              <a:t>		-use script “HvF_table”</a:t>
            </a:r>
          </a:p>
          <a:p>
            <a:r>
              <a:rPr lang="en-US"/>
              <a:t>		-@MEASUREMENT HvF_table has to have the stage,flow pairs in STAGETBL</a:t>
            </a:r>
          </a:p>
          <a:p>
            <a:endParaRPr lang="en-US"/>
          </a:p>
          <a:p>
            <a:r>
              <a:rPr lang="en-US"/>
              <a:t>	-flow can be calculated using Vel_950 and Level_PT</a:t>
            </a:r>
          </a:p>
          <a:p>
            <a:r>
              <a:rPr lang="en-US"/>
              <a:t>		-set general purpose variable “pipe_diameter_in”</a:t>
            </a:r>
          </a:p>
          <a:p>
            <a:r>
              <a:rPr lang="en-US"/>
              <a:t>		-set Meta Index of M13 to 7 (Vel_950)</a:t>
            </a:r>
          </a:p>
          <a:p>
            <a:r>
              <a:rPr lang="en-US"/>
              <a:t>		-use script “AV_PipeFlow_cfs” or “AV_PipeFlow_gpm” </a:t>
            </a:r>
          </a:p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5516A7-0111-4B1E-8797-4C1E34A12CD0}"/>
              </a:ext>
            </a:extLst>
          </p:cNvPr>
          <p:cNvSpPr/>
          <p:nvPr/>
        </p:nvSpPr>
        <p:spPr>
          <a:xfrm>
            <a:off x="790614" y="451410"/>
            <a:ext cx="2702768" cy="4312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/>
              <a:t>FLOW weighted sampling</a:t>
            </a:r>
            <a:endParaRPr lang="en-US" sz="1200"/>
          </a:p>
          <a:p>
            <a:pPr lvl="1" indent="-344488"/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512C5-9DCB-47A5-AF26-676A21826469}"/>
              </a:ext>
            </a:extLst>
          </p:cNvPr>
          <p:cNvSpPr txBox="1"/>
          <p:nvPr/>
        </p:nvSpPr>
        <p:spPr>
          <a:xfrm>
            <a:off x="785570" y="1040673"/>
            <a:ext cx="173945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M1 SamplePacin</a:t>
            </a:r>
          </a:p>
          <a:p>
            <a:r>
              <a:rPr lang="en-US"/>
              <a:t>units = cf or gal</a:t>
            </a:r>
          </a:p>
        </p:txBody>
      </p:sp>
    </p:spTree>
    <p:extLst>
      <p:ext uri="{BB962C8B-B14F-4D97-AF65-F5344CB8AC3E}">
        <p14:creationId xmlns:p14="http://schemas.microsoft.com/office/powerpoint/2010/main" val="1848409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6143</TotalTime>
  <Words>1390</Words>
  <Application>Microsoft Office PowerPoint</Application>
  <PresentationFormat>Widescreen</PresentationFormat>
  <Paragraphs>180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Messina, Alex</dc:creator>
  <cp:lastModifiedBy>Messina, Alex</cp:lastModifiedBy>
  <cp:revision>32</cp:revision>
  <dcterms:created xsi:type="dcterms:W3CDTF">2020-12-18T19:25:30Z</dcterms:created>
  <dcterms:modified xsi:type="dcterms:W3CDTF">2021-01-13T01:38:57Z</dcterms:modified>
</cp:coreProperties>
</file>