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CC30-44B0-496A-9469-701A89721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04991-9111-4A25-89F7-E4DCA45D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A1E4-FDE0-4C4C-B828-58AC6A88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F916E-F986-4813-935C-934F7DB8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C91B0-7445-48AA-B480-ABA838C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1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1CEB-BE6A-44BE-8C0F-053C3FF7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54DD-12B2-4003-9A54-9FB244EB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F28CE-02AD-4A51-A08A-62B38E58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B510-B327-408E-B457-B0BE27F9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D6835-B371-4DCB-8497-FD4A395B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1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3C72-0CCC-4123-BC4E-4BE242CFE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95E7-FEBF-420D-93CA-E4724523E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F0963-E874-4ADA-BF0D-F02FE269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4107-2710-4480-9385-DC46DA7E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389D-6B13-44A4-AABE-9CA75EBE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1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26C2-D939-4D75-B3B7-4A7D0E05D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46D6-E513-41C1-BD4D-84532ED35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F5052-9F2B-47E8-AB64-C2CE730CA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0241-6CC1-405F-A5B9-7E241656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17971-5177-4A15-A5F7-0882E581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C0C62-3A60-4CD2-A317-12AAB906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0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4155-6387-40AE-9A00-DED298EE5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1DB4F-D493-428E-88AB-BC7C7921E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FC7ED-7AF4-4296-89BE-1BBBBB37D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2D022-C632-4C9C-87FB-29D2F235E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D043B-096E-4731-8DF2-D55846A0C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1F156-3C62-43F0-808B-FAE5B0B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2E050-2076-4D56-AF45-CF63B5FE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9D127-B815-421F-BD3F-C4B60BC0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8E80-1FE3-4C56-8B5F-3420A212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3A693-867A-4352-9C98-EC5BA3FA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F78D0-DA00-4744-8719-FDB07396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053BC-8A55-4DED-80CE-04EA6C16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7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BF22F-1F02-4E4F-B40F-EA4287FA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E4A9C-DFD2-49F1-8E17-C2C057DD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997D-E8AB-45D1-8987-25F1A1F0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5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FD2D-2087-4A9B-9BF3-16296E0F5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9702-78CA-44BB-B241-42DF19A6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DD7BA-6AF9-427C-8D25-CB6E38E4E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42A59-A1EE-4786-880A-B3C31C26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E7B6D-7983-404E-B06D-DFECED8E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B75A5-5DBC-427F-8BEA-C2A4094F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7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DA13-1F40-4D35-9E3D-938ABD7B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3934A-15A2-4CEF-B180-9BDF28AF0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01CBF-9F0B-44C9-B53C-5C6973D1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ADA7D-5530-4EF0-92DD-78FED76F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AA44D-9694-4EB8-8D53-F1DF27A0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5AECD-0AA8-454D-AEDA-D8C9CFA5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4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2165-804F-4CC8-872A-21794F61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47619-D583-42BB-87BA-FF785B48B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6B2F-3880-480F-BCFE-6DC8A5CB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0DD49-5296-4A1D-98E7-3DC68974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4D6AC-1F60-4548-878E-1BF45E47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8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75FC6-3188-46D5-9C20-744ED1BDA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86309-FCA7-41AF-B90E-71FB82734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ECFCB-E04A-41E8-9899-072D3D6C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6343C-9811-4631-B6FA-B54487E0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BDC0-EBAF-4097-BAC8-BFC8910E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3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D9831-2D7C-4070-81B0-1EA5631B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3FDCF-A89F-4A89-BD0D-7E280E829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7F2C-41ED-4D22-A973-543AD6F79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E2FFD-20FD-4A65-AE68-7D6E487F0EB8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9389-E5F9-436B-99CF-59DCBD555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2008-C262-4062-96A9-296DBC64B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A8D38-8197-41C8-9B52-3AB2C376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9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3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1.jpeg"/><Relationship Id="rId5" Type="http://schemas.openxmlformats.org/officeDocument/2006/relationships/image" Target="../media/image4.jpeg"/><Relationship Id="rId10" Type="http://schemas.openxmlformats.org/officeDocument/2006/relationships/image" Target="../media/image10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2FD8148-EC27-479D-98FD-D748E97792EB}"/>
              </a:ext>
            </a:extLst>
          </p:cNvPr>
          <p:cNvGrpSpPr/>
          <p:nvPr/>
        </p:nvGrpSpPr>
        <p:grpSpPr>
          <a:xfrm>
            <a:off x="1204502" y="4373117"/>
            <a:ext cx="4174443" cy="2874709"/>
            <a:chOff x="166721" y="3890517"/>
            <a:chExt cx="4174443" cy="2874709"/>
          </a:xfrm>
        </p:grpSpPr>
        <p:pic>
          <p:nvPicPr>
            <p:cNvPr id="1028" name="Picture 4" descr="Smart PT | Stevens Water">
              <a:extLst>
                <a:ext uri="{FF2B5EF4-FFF2-40B4-BE49-F238E27FC236}">
                  <a16:creationId xmlns:a16="http://schemas.microsoft.com/office/drawing/2014/main" id="{D949FDCB-52FE-4726-A55D-015C61A04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60" y="4246355"/>
              <a:ext cx="2518871" cy="2518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9BC3B7-26A1-4406-AA19-DD1CE20E54AD}"/>
                </a:ext>
              </a:extLst>
            </p:cNvPr>
            <p:cNvSpPr txBox="1"/>
            <p:nvPr/>
          </p:nvSpPr>
          <p:spPr>
            <a:xfrm>
              <a:off x="166721" y="5107739"/>
              <a:ext cx="14838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StevensWater</a:t>
              </a:r>
              <a:endParaRPr lang="en-US" dirty="0"/>
            </a:p>
            <a:p>
              <a:r>
                <a:rPr lang="en-US" dirty="0"/>
                <a:t>“</a:t>
              </a:r>
              <a:r>
                <a:rPr lang="en-US" dirty="0" err="1"/>
                <a:t>SmartPT</a:t>
              </a:r>
              <a:r>
                <a:rPr lang="en-US" dirty="0"/>
                <a:t>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D4AD5D6-8777-4470-A3FC-44A9204535C8}"/>
                </a:ext>
              </a:extLst>
            </p:cNvPr>
            <p:cNvSpPr txBox="1"/>
            <p:nvPr/>
          </p:nvSpPr>
          <p:spPr>
            <a:xfrm rot="19226865">
              <a:off x="3682009" y="3890517"/>
              <a:ext cx="659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SDI-12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3B8219-F979-419F-A05A-D7447A2A95AA}"/>
              </a:ext>
            </a:extLst>
          </p:cNvPr>
          <p:cNvCxnSpPr/>
          <p:nvPr/>
        </p:nvCxnSpPr>
        <p:spPr>
          <a:xfrm flipV="1">
            <a:off x="4002275" y="3596780"/>
            <a:ext cx="1653310" cy="11360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61AD97-FF9B-468E-858C-3297AF5356CA}"/>
              </a:ext>
            </a:extLst>
          </p:cNvPr>
          <p:cNvCxnSpPr/>
          <p:nvPr/>
        </p:nvCxnSpPr>
        <p:spPr>
          <a:xfrm flipV="1">
            <a:off x="4015752" y="3741152"/>
            <a:ext cx="1653310" cy="11360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28D47B-DE61-4099-A7B9-8DA9F331EE2A}"/>
              </a:ext>
            </a:extLst>
          </p:cNvPr>
          <p:cNvCxnSpPr/>
          <p:nvPr/>
        </p:nvCxnSpPr>
        <p:spPr>
          <a:xfrm flipV="1">
            <a:off x="4042417" y="3859621"/>
            <a:ext cx="1653310" cy="11360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Symmetry Solar Panel Pole Mount Kit">
            <a:extLst>
              <a:ext uri="{FF2B5EF4-FFF2-40B4-BE49-F238E27FC236}">
                <a16:creationId xmlns:a16="http://schemas.microsoft.com/office/drawing/2014/main" id="{BCA4BE0E-8720-477D-82D1-2273F1F2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35" y="935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9B88A6-A344-4EA3-ADCC-1E71FD70C49B}"/>
              </a:ext>
            </a:extLst>
          </p:cNvPr>
          <p:cNvCxnSpPr>
            <a:cxnSpLocks/>
          </p:cNvCxnSpPr>
          <p:nvPr/>
        </p:nvCxnSpPr>
        <p:spPr>
          <a:xfrm>
            <a:off x="2305169" y="1667448"/>
            <a:ext cx="3363893" cy="8169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F5E2F7-D9DF-4423-85D6-CB726842D6C8}"/>
              </a:ext>
            </a:extLst>
          </p:cNvPr>
          <p:cNvCxnSpPr>
            <a:cxnSpLocks/>
          </p:cNvCxnSpPr>
          <p:nvPr/>
        </p:nvCxnSpPr>
        <p:spPr>
          <a:xfrm>
            <a:off x="2305169" y="1813920"/>
            <a:ext cx="3363764" cy="7749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F34131-F6E3-4D28-99F1-7C8ED2892D85}"/>
              </a:ext>
            </a:extLst>
          </p:cNvPr>
          <p:cNvCxnSpPr>
            <a:cxnSpLocks/>
          </p:cNvCxnSpPr>
          <p:nvPr/>
        </p:nvCxnSpPr>
        <p:spPr>
          <a:xfrm>
            <a:off x="4179807" y="1625219"/>
            <a:ext cx="1515920" cy="65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731AB4-ED38-4DEC-98BE-E91F686001A9}"/>
              </a:ext>
            </a:extLst>
          </p:cNvPr>
          <p:cNvCxnSpPr>
            <a:cxnSpLocks/>
          </p:cNvCxnSpPr>
          <p:nvPr/>
        </p:nvCxnSpPr>
        <p:spPr>
          <a:xfrm>
            <a:off x="4274949" y="1760549"/>
            <a:ext cx="1394113" cy="6158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MOTOMASTER OEPLUS Group Size 24F Battery, 725 CCA Canadian Tire">
            <a:extLst>
              <a:ext uri="{FF2B5EF4-FFF2-40B4-BE49-F238E27FC236}">
                <a16:creationId xmlns:a16="http://schemas.microsoft.com/office/drawing/2014/main" id="{9FEB79EF-4348-4731-9F4E-1FBB79B1E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94" y="560791"/>
            <a:ext cx="1244468" cy="125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igma 950 Area Velocity Bubbler Flow Meter with Sensor | Hach Canada -  Overview - Obsolete">
            <a:extLst>
              <a:ext uri="{FF2B5EF4-FFF2-40B4-BE49-F238E27FC236}">
                <a16:creationId xmlns:a16="http://schemas.microsoft.com/office/drawing/2014/main" id="{82C35058-2CED-4274-A6B5-D0DF0FDB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792" y="5153626"/>
            <a:ext cx="1546207" cy="146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arTech.com 10' RS232 Serial Null Modem Cable - Null modem cable - DB-9  (F) to DB-9 (F) - 10 ft - SCNM9FF: Amazon.ca: Electronics">
            <a:extLst>
              <a:ext uri="{FF2B5EF4-FFF2-40B4-BE49-F238E27FC236}">
                <a16:creationId xmlns:a16="http://schemas.microsoft.com/office/drawing/2014/main" id="{D573B95B-856B-4A50-8411-52B2000F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38284">
            <a:off x="6440628" y="4276597"/>
            <a:ext cx="725411" cy="74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ignal Input Cable, 10-ft 7-Pin Connector, Sigma SD900">
            <a:extLst>
              <a:ext uri="{FF2B5EF4-FFF2-40B4-BE49-F238E27FC236}">
                <a16:creationId xmlns:a16="http://schemas.microsoft.com/office/drawing/2014/main" id="{B384663D-0D73-4CEB-BDC3-959F01EA0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9" t="34014" r="623" b="42131"/>
          <a:stretch/>
        </p:blipFill>
        <p:spPr bwMode="auto">
          <a:xfrm rot="7402434">
            <a:off x="1927265" y="3567764"/>
            <a:ext cx="610948" cy="113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stewater sampler - Sigma 900 - Hach - refrigerated">
            <a:extLst>
              <a:ext uri="{FF2B5EF4-FFF2-40B4-BE49-F238E27FC236}">
                <a16:creationId xmlns:a16="http://schemas.microsoft.com/office/drawing/2014/main" id="{D3C6116F-F673-43E5-B032-2ABB75C5B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13" y="3713172"/>
            <a:ext cx="1373060" cy="18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A4C2BF-795F-4BC5-952C-5DF280B6D4E3}"/>
              </a:ext>
            </a:extLst>
          </p:cNvPr>
          <p:cNvCxnSpPr>
            <a:cxnSpLocks/>
          </p:cNvCxnSpPr>
          <p:nvPr/>
        </p:nvCxnSpPr>
        <p:spPr>
          <a:xfrm flipV="1">
            <a:off x="2716579" y="3026753"/>
            <a:ext cx="2846049" cy="928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9645C1-0451-4172-B5A0-16E184004F41}"/>
              </a:ext>
            </a:extLst>
          </p:cNvPr>
          <p:cNvCxnSpPr>
            <a:cxnSpLocks/>
          </p:cNvCxnSpPr>
          <p:nvPr/>
        </p:nvCxnSpPr>
        <p:spPr>
          <a:xfrm flipV="1">
            <a:off x="2782401" y="3162227"/>
            <a:ext cx="2807362" cy="951067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PSA-AV - FloWav - Open Channel-Wastewater Area Velocity Sensor">
            <a:extLst>
              <a:ext uri="{FF2B5EF4-FFF2-40B4-BE49-F238E27FC236}">
                <a16:creationId xmlns:a16="http://schemas.microsoft.com/office/drawing/2014/main" id="{836CB37D-C71F-4831-93D0-467B23302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91516" flipH="1">
            <a:off x="1601849" y="2448479"/>
            <a:ext cx="1488503" cy="10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76ACEE-9167-4800-9864-9B805282F1FC}"/>
              </a:ext>
            </a:extLst>
          </p:cNvPr>
          <p:cNvCxnSpPr>
            <a:cxnSpLocks/>
          </p:cNvCxnSpPr>
          <p:nvPr/>
        </p:nvCxnSpPr>
        <p:spPr>
          <a:xfrm>
            <a:off x="3151157" y="2713548"/>
            <a:ext cx="2467104" cy="59601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10FF639-D1A0-4316-8559-4260BB2CBAD2}"/>
              </a:ext>
            </a:extLst>
          </p:cNvPr>
          <p:cNvCxnSpPr>
            <a:cxnSpLocks/>
          </p:cNvCxnSpPr>
          <p:nvPr/>
        </p:nvCxnSpPr>
        <p:spPr>
          <a:xfrm flipV="1">
            <a:off x="3151157" y="2877544"/>
            <a:ext cx="2466975" cy="12252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1A9329-4834-4CA9-B317-6D5520AA9739}"/>
              </a:ext>
            </a:extLst>
          </p:cNvPr>
          <p:cNvSpPr txBox="1"/>
          <p:nvPr/>
        </p:nvSpPr>
        <p:spPr>
          <a:xfrm>
            <a:off x="1719411" y="4362413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61684B-24F5-4CB6-85E8-EC9A2636BDCC}"/>
              </a:ext>
            </a:extLst>
          </p:cNvPr>
          <p:cNvSpPr txBox="1"/>
          <p:nvPr/>
        </p:nvSpPr>
        <p:spPr>
          <a:xfrm rot="20307547">
            <a:off x="3754783" y="3609828"/>
            <a:ext cx="1173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Switched 12V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7A6CF5-12DF-4B7C-B103-114EDE3BE615}"/>
              </a:ext>
            </a:extLst>
          </p:cNvPr>
          <p:cNvSpPr txBox="1"/>
          <p:nvPr/>
        </p:nvSpPr>
        <p:spPr>
          <a:xfrm>
            <a:off x="3342126" y="2899925"/>
            <a:ext cx="1408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RS-485 MODBUS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976621-411A-4BAC-8401-262949E5096F}"/>
              </a:ext>
            </a:extLst>
          </p:cNvPr>
          <p:cNvSpPr txBox="1"/>
          <p:nvPr/>
        </p:nvSpPr>
        <p:spPr>
          <a:xfrm>
            <a:off x="6996165" y="4529196"/>
            <a:ext cx="862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RS-232 </a:t>
            </a:r>
          </a:p>
          <a:p>
            <a:r>
              <a:rPr lang="en-US" sz="1400" dirty="0"/>
              <a:t>MODBUS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AA719-5C6C-47C0-A804-B38EDBD7227E}"/>
              </a:ext>
            </a:extLst>
          </p:cNvPr>
          <p:cNvSpPr txBox="1"/>
          <p:nvPr/>
        </p:nvSpPr>
        <p:spPr>
          <a:xfrm>
            <a:off x="7510049" y="5407423"/>
            <a:ext cx="1204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 950 </a:t>
            </a:r>
          </a:p>
          <a:p>
            <a:r>
              <a:rPr lang="en-US" dirty="0"/>
              <a:t>flowmeter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691DAF-65A8-4501-8626-DB1CD09B7773}"/>
              </a:ext>
            </a:extLst>
          </p:cNvPr>
          <p:cNvSpPr/>
          <p:nvPr/>
        </p:nvSpPr>
        <p:spPr>
          <a:xfrm>
            <a:off x="4307723" y="4864"/>
            <a:ext cx="60074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Sutron Universe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FCEBE8-FAF4-42A4-857A-521FC586B32F}"/>
              </a:ext>
            </a:extLst>
          </p:cNvPr>
          <p:cNvSpPr txBox="1"/>
          <p:nvPr/>
        </p:nvSpPr>
        <p:spPr>
          <a:xfrm>
            <a:off x="863380" y="2318989"/>
            <a:ext cx="918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PSA-AV </a:t>
            </a:r>
          </a:p>
          <a:p>
            <a:r>
              <a:rPr lang="en-US" dirty="0"/>
              <a:t>sensor</a:t>
            </a:r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7B41BDC7-35B2-45A7-AFE1-938634F09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319585"/>
              </p:ext>
            </p:extLst>
          </p:nvPr>
        </p:nvGraphicFramePr>
        <p:xfrm>
          <a:off x="8018976" y="3026753"/>
          <a:ext cx="3892761" cy="1553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190">
                  <a:extLst>
                    <a:ext uri="{9D8B030D-6E8A-4147-A177-3AD203B41FA5}">
                      <a16:colId xmlns:a16="http://schemas.microsoft.com/office/drawing/2014/main" val="2929657348"/>
                    </a:ext>
                  </a:extLst>
                </a:gridCol>
                <a:gridCol w="1196466">
                  <a:extLst>
                    <a:ext uri="{9D8B030D-6E8A-4147-A177-3AD203B41FA5}">
                      <a16:colId xmlns:a16="http://schemas.microsoft.com/office/drawing/2014/main" val="32209995"/>
                    </a:ext>
                  </a:extLst>
                </a:gridCol>
                <a:gridCol w="939567">
                  <a:extLst>
                    <a:ext uri="{9D8B030D-6E8A-4147-A177-3AD203B41FA5}">
                      <a16:colId xmlns:a16="http://schemas.microsoft.com/office/drawing/2014/main" val="3710073595"/>
                    </a:ext>
                  </a:extLst>
                </a:gridCol>
                <a:gridCol w="783538">
                  <a:extLst>
                    <a:ext uri="{9D8B030D-6E8A-4147-A177-3AD203B41FA5}">
                      <a16:colId xmlns:a16="http://schemas.microsoft.com/office/drawing/2014/main" val="991159111"/>
                    </a:ext>
                  </a:extLst>
                </a:gridCol>
              </a:tblGrid>
              <a:tr h="269673">
                <a:tc>
                  <a:txBody>
                    <a:bodyPr/>
                    <a:lstStyle/>
                    <a:p>
                      <a:r>
                        <a:rPr lang="en-US" sz="1400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77997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PSA-AV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 (PT)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RS-485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11524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Sigma 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 (bubbler)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RS-232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950160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Stevens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 (PT)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HvF</a:t>
                      </a:r>
                      <a:r>
                        <a:rPr lang="en-US" sz="1400" dirty="0"/>
                        <a:t>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SDI-12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30755"/>
                  </a:ext>
                </a:extLst>
              </a:tr>
              <a:tr h="334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 (bubbler)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HvF</a:t>
                      </a:r>
                      <a:r>
                        <a:rPr lang="en-US" sz="1400" dirty="0"/>
                        <a:t>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SDI-12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610083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5232D0DA-F2A8-4A85-B4B2-57FC94C2107A}"/>
              </a:ext>
            </a:extLst>
          </p:cNvPr>
          <p:cNvGrpSpPr/>
          <p:nvPr/>
        </p:nvGrpSpPr>
        <p:grpSpPr>
          <a:xfrm>
            <a:off x="7283375" y="1000380"/>
            <a:ext cx="1657525" cy="1565305"/>
            <a:chOff x="7419086" y="798394"/>
            <a:chExt cx="1760305" cy="158875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C41B4A-4246-4EDF-8BD9-AAC3E06AB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19086" y="798394"/>
              <a:ext cx="1760305" cy="158875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7B4D4D-1D2E-4224-80C3-F6A466F24F31}"/>
                </a:ext>
              </a:extLst>
            </p:cNvPr>
            <p:cNvSpPr/>
            <p:nvPr/>
          </p:nvSpPr>
          <p:spPr>
            <a:xfrm>
              <a:off x="7432477" y="1722153"/>
              <a:ext cx="679661" cy="655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4" name="Picture 20" descr="OTT CBS - Compact Bubbler Sensor - OTT Hydromet">
            <a:extLst>
              <a:ext uri="{FF2B5EF4-FFF2-40B4-BE49-F238E27FC236}">
                <a16:creationId xmlns:a16="http://schemas.microsoft.com/office/drawing/2014/main" id="{958350CC-39E9-4FCC-A8AA-807D8114C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t="17718" r="20382" b="11341"/>
          <a:stretch/>
        </p:blipFill>
        <p:spPr bwMode="auto">
          <a:xfrm>
            <a:off x="3574375" y="5376231"/>
            <a:ext cx="1620537" cy="12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A3E9794-FB2F-47C2-906D-5E479C7B8BC8}"/>
              </a:ext>
            </a:extLst>
          </p:cNvPr>
          <p:cNvSpPr txBox="1"/>
          <p:nvPr/>
        </p:nvSpPr>
        <p:spPr>
          <a:xfrm>
            <a:off x="3835674" y="6448103"/>
            <a:ext cx="135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OTT Bubbler</a:t>
            </a:r>
          </a:p>
        </p:txBody>
      </p:sp>
      <p:pic>
        <p:nvPicPr>
          <p:cNvPr id="1026" name="Picture 2" descr="Data Management">
            <a:extLst>
              <a:ext uri="{FF2B5EF4-FFF2-40B4-BE49-F238E27FC236}">
                <a16:creationId xmlns:a16="http://schemas.microsoft.com/office/drawing/2014/main" id="{DE5D2F92-D81C-4429-96C1-D8EEE7049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4" t="7858" r="15029" b="4485"/>
          <a:stretch/>
        </p:blipFill>
        <p:spPr bwMode="auto">
          <a:xfrm>
            <a:off x="5713274" y="1687168"/>
            <a:ext cx="1963648" cy="2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ACAED17-537E-4537-ABF1-DF9261D58A90}"/>
              </a:ext>
            </a:extLst>
          </p:cNvPr>
          <p:cNvSpPr txBox="1"/>
          <p:nvPr/>
        </p:nvSpPr>
        <p:spPr>
          <a:xfrm>
            <a:off x="8940900" y="1238436"/>
            <a:ext cx="1831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modem to</a:t>
            </a:r>
          </a:p>
          <a:p>
            <a:r>
              <a:rPr lang="en-US" dirty="0"/>
              <a:t>Phone, PC, server</a:t>
            </a:r>
          </a:p>
        </p:txBody>
      </p:sp>
    </p:spTree>
    <p:extLst>
      <p:ext uri="{BB962C8B-B14F-4D97-AF65-F5344CB8AC3E}">
        <p14:creationId xmlns:p14="http://schemas.microsoft.com/office/powerpoint/2010/main" val="160421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2FD8148-EC27-479D-98FD-D748E97792EB}"/>
              </a:ext>
            </a:extLst>
          </p:cNvPr>
          <p:cNvGrpSpPr/>
          <p:nvPr/>
        </p:nvGrpSpPr>
        <p:grpSpPr>
          <a:xfrm>
            <a:off x="1204502" y="4728955"/>
            <a:ext cx="2749010" cy="2518871"/>
            <a:chOff x="166721" y="4246355"/>
            <a:chExt cx="2749010" cy="2518871"/>
          </a:xfrm>
        </p:grpSpPr>
        <p:pic>
          <p:nvPicPr>
            <p:cNvPr id="1028" name="Picture 4" descr="Smart PT | Stevens Water">
              <a:extLst>
                <a:ext uri="{FF2B5EF4-FFF2-40B4-BE49-F238E27FC236}">
                  <a16:creationId xmlns:a16="http://schemas.microsoft.com/office/drawing/2014/main" id="{D949FDCB-52FE-4726-A55D-015C61A04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60" y="4246355"/>
              <a:ext cx="2518871" cy="2518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9BC3B7-26A1-4406-AA19-DD1CE20E54AD}"/>
                </a:ext>
              </a:extLst>
            </p:cNvPr>
            <p:cNvSpPr txBox="1"/>
            <p:nvPr/>
          </p:nvSpPr>
          <p:spPr>
            <a:xfrm>
              <a:off x="166721" y="5107739"/>
              <a:ext cx="14838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StevensWater</a:t>
              </a:r>
              <a:endParaRPr lang="en-US" dirty="0"/>
            </a:p>
            <a:p>
              <a:r>
                <a:rPr lang="en-US" dirty="0"/>
                <a:t>“</a:t>
              </a:r>
              <a:r>
                <a:rPr lang="en-US" dirty="0" err="1"/>
                <a:t>SmartPT</a:t>
              </a:r>
              <a:r>
                <a:rPr lang="en-US" dirty="0"/>
                <a:t>”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3B8219-F979-419F-A05A-D7447A2A95AA}"/>
              </a:ext>
            </a:extLst>
          </p:cNvPr>
          <p:cNvCxnSpPr/>
          <p:nvPr/>
        </p:nvCxnSpPr>
        <p:spPr>
          <a:xfrm flipV="1">
            <a:off x="4002275" y="3596780"/>
            <a:ext cx="1653310" cy="11360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61AD97-FF9B-468E-858C-3297AF5356CA}"/>
              </a:ext>
            </a:extLst>
          </p:cNvPr>
          <p:cNvCxnSpPr/>
          <p:nvPr/>
        </p:nvCxnSpPr>
        <p:spPr>
          <a:xfrm flipV="1">
            <a:off x="4015752" y="3741152"/>
            <a:ext cx="1653310" cy="11360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28D47B-DE61-4099-A7B9-8DA9F331EE2A}"/>
              </a:ext>
            </a:extLst>
          </p:cNvPr>
          <p:cNvCxnSpPr/>
          <p:nvPr/>
        </p:nvCxnSpPr>
        <p:spPr>
          <a:xfrm flipV="1">
            <a:off x="4042417" y="3859621"/>
            <a:ext cx="1653310" cy="11360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Symmetry Solar Panel Pole Mount Kit">
            <a:extLst>
              <a:ext uri="{FF2B5EF4-FFF2-40B4-BE49-F238E27FC236}">
                <a16:creationId xmlns:a16="http://schemas.microsoft.com/office/drawing/2014/main" id="{BCA4BE0E-8720-477D-82D1-2273F1F2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35" y="935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9B88A6-A344-4EA3-ADCC-1E71FD70C49B}"/>
              </a:ext>
            </a:extLst>
          </p:cNvPr>
          <p:cNvCxnSpPr>
            <a:cxnSpLocks/>
          </p:cNvCxnSpPr>
          <p:nvPr/>
        </p:nvCxnSpPr>
        <p:spPr>
          <a:xfrm>
            <a:off x="2305169" y="1667448"/>
            <a:ext cx="3363893" cy="8169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F5E2F7-D9DF-4423-85D6-CB726842D6C8}"/>
              </a:ext>
            </a:extLst>
          </p:cNvPr>
          <p:cNvCxnSpPr>
            <a:cxnSpLocks/>
          </p:cNvCxnSpPr>
          <p:nvPr/>
        </p:nvCxnSpPr>
        <p:spPr>
          <a:xfrm>
            <a:off x="2305169" y="1813920"/>
            <a:ext cx="3363764" cy="7749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F34131-F6E3-4D28-99F1-7C8ED2892D85}"/>
              </a:ext>
            </a:extLst>
          </p:cNvPr>
          <p:cNvCxnSpPr>
            <a:cxnSpLocks/>
          </p:cNvCxnSpPr>
          <p:nvPr/>
        </p:nvCxnSpPr>
        <p:spPr>
          <a:xfrm>
            <a:off x="4179807" y="1625219"/>
            <a:ext cx="1515920" cy="65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731AB4-ED38-4DEC-98BE-E91F686001A9}"/>
              </a:ext>
            </a:extLst>
          </p:cNvPr>
          <p:cNvCxnSpPr>
            <a:cxnSpLocks/>
          </p:cNvCxnSpPr>
          <p:nvPr/>
        </p:nvCxnSpPr>
        <p:spPr>
          <a:xfrm>
            <a:off x="4274949" y="1760549"/>
            <a:ext cx="1394113" cy="6158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MOTOMASTER OEPLUS Group Size 24F Battery, 725 CCA Canadian Tire">
            <a:extLst>
              <a:ext uri="{FF2B5EF4-FFF2-40B4-BE49-F238E27FC236}">
                <a16:creationId xmlns:a16="http://schemas.microsoft.com/office/drawing/2014/main" id="{9FEB79EF-4348-4731-9F4E-1FBB79B1E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94" y="560791"/>
            <a:ext cx="1244468" cy="125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igma 950 Area Velocity Bubbler Flow Meter with Sensor | Hach Canada -  Overview - Obsolete">
            <a:extLst>
              <a:ext uri="{FF2B5EF4-FFF2-40B4-BE49-F238E27FC236}">
                <a16:creationId xmlns:a16="http://schemas.microsoft.com/office/drawing/2014/main" id="{82C35058-2CED-4274-A6B5-D0DF0FDB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792" y="5153626"/>
            <a:ext cx="1546207" cy="146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arTech.com 10' RS232 Serial Null Modem Cable - Null modem cable - DB-9  (F) to DB-9 (F) - 10 ft - SCNM9FF: Amazon.ca: Electronics">
            <a:extLst>
              <a:ext uri="{FF2B5EF4-FFF2-40B4-BE49-F238E27FC236}">
                <a16:creationId xmlns:a16="http://schemas.microsoft.com/office/drawing/2014/main" id="{D573B95B-856B-4A50-8411-52B2000F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38284">
            <a:off x="6440628" y="4276597"/>
            <a:ext cx="725411" cy="74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ignal Input Cable, 10-ft 7-Pin Connector, Sigma SD900">
            <a:extLst>
              <a:ext uri="{FF2B5EF4-FFF2-40B4-BE49-F238E27FC236}">
                <a16:creationId xmlns:a16="http://schemas.microsoft.com/office/drawing/2014/main" id="{B384663D-0D73-4CEB-BDC3-959F01EA0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9" t="34014" r="623" b="42131"/>
          <a:stretch/>
        </p:blipFill>
        <p:spPr bwMode="auto">
          <a:xfrm rot="7402434">
            <a:off x="1927265" y="3567764"/>
            <a:ext cx="610948" cy="113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stewater sampler - Sigma 900 - Hach - refrigerated">
            <a:extLst>
              <a:ext uri="{FF2B5EF4-FFF2-40B4-BE49-F238E27FC236}">
                <a16:creationId xmlns:a16="http://schemas.microsoft.com/office/drawing/2014/main" id="{D3C6116F-F673-43E5-B032-2ABB75C5B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13" y="3713172"/>
            <a:ext cx="1373060" cy="18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A4C2BF-795F-4BC5-952C-5DF280B6D4E3}"/>
              </a:ext>
            </a:extLst>
          </p:cNvPr>
          <p:cNvCxnSpPr>
            <a:cxnSpLocks/>
          </p:cNvCxnSpPr>
          <p:nvPr/>
        </p:nvCxnSpPr>
        <p:spPr>
          <a:xfrm flipV="1">
            <a:off x="2716579" y="3026753"/>
            <a:ext cx="2846049" cy="928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9645C1-0451-4172-B5A0-16E184004F41}"/>
              </a:ext>
            </a:extLst>
          </p:cNvPr>
          <p:cNvCxnSpPr>
            <a:cxnSpLocks/>
          </p:cNvCxnSpPr>
          <p:nvPr/>
        </p:nvCxnSpPr>
        <p:spPr>
          <a:xfrm flipV="1">
            <a:off x="2782401" y="3162227"/>
            <a:ext cx="2807362" cy="951067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PSA-AV - FloWav - Open Channel-Wastewater Area Velocity Sensor">
            <a:extLst>
              <a:ext uri="{FF2B5EF4-FFF2-40B4-BE49-F238E27FC236}">
                <a16:creationId xmlns:a16="http://schemas.microsoft.com/office/drawing/2014/main" id="{836CB37D-C71F-4831-93D0-467B23302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91516" flipH="1">
            <a:off x="1601849" y="2448479"/>
            <a:ext cx="1488503" cy="10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76ACEE-9167-4800-9864-9B805282F1FC}"/>
              </a:ext>
            </a:extLst>
          </p:cNvPr>
          <p:cNvCxnSpPr>
            <a:cxnSpLocks/>
          </p:cNvCxnSpPr>
          <p:nvPr/>
        </p:nvCxnSpPr>
        <p:spPr>
          <a:xfrm>
            <a:off x="3151157" y="2713548"/>
            <a:ext cx="2467104" cy="59601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10FF639-D1A0-4316-8559-4260BB2CBAD2}"/>
              </a:ext>
            </a:extLst>
          </p:cNvPr>
          <p:cNvCxnSpPr>
            <a:cxnSpLocks/>
          </p:cNvCxnSpPr>
          <p:nvPr/>
        </p:nvCxnSpPr>
        <p:spPr>
          <a:xfrm flipV="1">
            <a:off x="3151157" y="2877544"/>
            <a:ext cx="2466975" cy="12252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1A9329-4834-4CA9-B317-6D5520AA9739}"/>
              </a:ext>
            </a:extLst>
          </p:cNvPr>
          <p:cNvSpPr txBox="1"/>
          <p:nvPr/>
        </p:nvSpPr>
        <p:spPr>
          <a:xfrm>
            <a:off x="1719411" y="4362413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AA719-5C6C-47C0-A804-B38EDBD7227E}"/>
              </a:ext>
            </a:extLst>
          </p:cNvPr>
          <p:cNvSpPr txBox="1"/>
          <p:nvPr/>
        </p:nvSpPr>
        <p:spPr>
          <a:xfrm>
            <a:off x="7510049" y="5407423"/>
            <a:ext cx="1204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 950 </a:t>
            </a:r>
          </a:p>
          <a:p>
            <a:r>
              <a:rPr lang="en-US" dirty="0"/>
              <a:t>flowmeter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691DAF-65A8-4501-8626-DB1CD09B7773}"/>
              </a:ext>
            </a:extLst>
          </p:cNvPr>
          <p:cNvSpPr/>
          <p:nvPr/>
        </p:nvSpPr>
        <p:spPr>
          <a:xfrm>
            <a:off x="4307723" y="4864"/>
            <a:ext cx="60074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Sutron Universe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FCEBE8-FAF4-42A4-857A-521FC586B32F}"/>
              </a:ext>
            </a:extLst>
          </p:cNvPr>
          <p:cNvSpPr txBox="1"/>
          <p:nvPr/>
        </p:nvSpPr>
        <p:spPr>
          <a:xfrm>
            <a:off x="863380" y="2318989"/>
            <a:ext cx="918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PSA-AV </a:t>
            </a:r>
          </a:p>
          <a:p>
            <a:r>
              <a:rPr lang="en-US" dirty="0"/>
              <a:t>sensor</a:t>
            </a:r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7B41BDC7-35B2-45A7-AFE1-938634F09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739254"/>
              </p:ext>
            </p:extLst>
          </p:nvPr>
        </p:nvGraphicFramePr>
        <p:xfrm>
          <a:off x="8005499" y="2652028"/>
          <a:ext cx="4036005" cy="1401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001">
                  <a:extLst>
                    <a:ext uri="{9D8B030D-6E8A-4147-A177-3AD203B41FA5}">
                      <a16:colId xmlns:a16="http://schemas.microsoft.com/office/drawing/2014/main" val="2929657348"/>
                    </a:ext>
                  </a:extLst>
                </a:gridCol>
                <a:gridCol w="1089146">
                  <a:extLst>
                    <a:ext uri="{9D8B030D-6E8A-4147-A177-3AD203B41FA5}">
                      <a16:colId xmlns:a16="http://schemas.microsoft.com/office/drawing/2014/main" val="32209995"/>
                    </a:ext>
                  </a:extLst>
                </a:gridCol>
                <a:gridCol w="1006679">
                  <a:extLst>
                    <a:ext uri="{9D8B030D-6E8A-4147-A177-3AD203B41FA5}">
                      <a16:colId xmlns:a16="http://schemas.microsoft.com/office/drawing/2014/main" val="3710073595"/>
                    </a:ext>
                  </a:extLst>
                </a:gridCol>
                <a:gridCol w="931179">
                  <a:extLst>
                    <a:ext uri="{9D8B030D-6E8A-4147-A177-3AD203B41FA5}">
                      <a16:colId xmlns:a16="http://schemas.microsoft.com/office/drawing/2014/main" val="991159111"/>
                    </a:ext>
                  </a:extLst>
                </a:gridCol>
              </a:tblGrid>
              <a:tr h="249699">
                <a:tc>
                  <a:txBody>
                    <a:bodyPr/>
                    <a:lstStyle/>
                    <a:p>
                      <a:r>
                        <a:rPr lang="en-US" sz="1200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77997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PSA-AV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✓ (PT)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$2,200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11524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Sigma 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✓ (bubbler)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Priceless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950160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Stevens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✓ (PT)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HvF</a:t>
                      </a:r>
                      <a:r>
                        <a:rPr lang="en-US" sz="1200" dirty="0"/>
                        <a:t>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$800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30755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✓ (bubbler)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HvF</a:t>
                      </a:r>
                      <a:r>
                        <a:rPr lang="en-US" sz="1200" dirty="0"/>
                        <a:t>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$2,800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610083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5232D0DA-F2A8-4A85-B4B2-57FC94C2107A}"/>
              </a:ext>
            </a:extLst>
          </p:cNvPr>
          <p:cNvGrpSpPr/>
          <p:nvPr/>
        </p:nvGrpSpPr>
        <p:grpSpPr>
          <a:xfrm>
            <a:off x="7283375" y="1000380"/>
            <a:ext cx="1657525" cy="1565305"/>
            <a:chOff x="7419086" y="798394"/>
            <a:chExt cx="1760305" cy="158875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C41B4A-4246-4EDF-8BD9-AAC3E06AB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19086" y="798394"/>
              <a:ext cx="1760305" cy="158875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7B4D4D-1D2E-4224-80C3-F6A466F24F31}"/>
                </a:ext>
              </a:extLst>
            </p:cNvPr>
            <p:cNvSpPr/>
            <p:nvPr/>
          </p:nvSpPr>
          <p:spPr>
            <a:xfrm>
              <a:off x="7432477" y="1722153"/>
              <a:ext cx="679661" cy="655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4" name="Picture 20" descr="OTT CBS - Compact Bubbler Sensor - OTT Hydromet">
            <a:extLst>
              <a:ext uri="{FF2B5EF4-FFF2-40B4-BE49-F238E27FC236}">
                <a16:creationId xmlns:a16="http://schemas.microsoft.com/office/drawing/2014/main" id="{958350CC-39E9-4FCC-A8AA-807D8114C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t="17718" r="20382" b="11341"/>
          <a:stretch/>
        </p:blipFill>
        <p:spPr bwMode="auto">
          <a:xfrm>
            <a:off x="3804664" y="5147698"/>
            <a:ext cx="1620537" cy="12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A3E9794-FB2F-47C2-906D-5E479C7B8BC8}"/>
              </a:ext>
            </a:extLst>
          </p:cNvPr>
          <p:cNvSpPr txBox="1"/>
          <p:nvPr/>
        </p:nvSpPr>
        <p:spPr>
          <a:xfrm>
            <a:off x="3669773" y="6154689"/>
            <a:ext cx="135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OTT Bubbler</a:t>
            </a:r>
          </a:p>
        </p:txBody>
      </p:sp>
      <p:pic>
        <p:nvPicPr>
          <p:cNvPr id="1026" name="Picture 2" descr="Data Management">
            <a:extLst>
              <a:ext uri="{FF2B5EF4-FFF2-40B4-BE49-F238E27FC236}">
                <a16:creationId xmlns:a16="http://schemas.microsoft.com/office/drawing/2014/main" id="{DE5D2F92-D81C-4429-96C1-D8EEE7049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4" t="7858" r="15029" b="4485"/>
          <a:stretch/>
        </p:blipFill>
        <p:spPr bwMode="auto">
          <a:xfrm>
            <a:off x="5713274" y="1687168"/>
            <a:ext cx="1963648" cy="2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ACAED17-537E-4537-ABF1-DF9261D58A90}"/>
              </a:ext>
            </a:extLst>
          </p:cNvPr>
          <p:cNvSpPr txBox="1"/>
          <p:nvPr/>
        </p:nvSpPr>
        <p:spPr>
          <a:xfrm>
            <a:off x="8940900" y="1238436"/>
            <a:ext cx="1831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modem to</a:t>
            </a:r>
          </a:p>
          <a:p>
            <a:r>
              <a:rPr lang="en-US" dirty="0"/>
              <a:t>Phone, PC, server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745FFC-F6E3-4C1F-BB53-4C37C55CFD87}"/>
              </a:ext>
            </a:extLst>
          </p:cNvPr>
          <p:cNvSpPr txBox="1"/>
          <p:nvPr/>
        </p:nvSpPr>
        <p:spPr>
          <a:xfrm>
            <a:off x="9189707" y="1803348"/>
            <a:ext cx="15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$10-20/month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7D25F5-786C-47CC-9FEF-0B151A306F87}"/>
              </a:ext>
            </a:extLst>
          </p:cNvPr>
          <p:cNvSpPr txBox="1"/>
          <p:nvPr/>
        </p:nvSpPr>
        <p:spPr>
          <a:xfrm>
            <a:off x="5934024" y="134464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$1,600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EF4BF0-DD9E-42DF-A00A-2047FFF9AC69}"/>
              </a:ext>
            </a:extLst>
          </p:cNvPr>
          <p:cNvSpPr txBox="1"/>
          <p:nvPr/>
        </p:nvSpPr>
        <p:spPr>
          <a:xfrm>
            <a:off x="2905379" y="24689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$100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38C74-2B93-4EE2-BB4D-C5F7ECD95CB8}"/>
              </a:ext>
            </a:extLst>
          </p:cNvPr>
          <p:cNvSpPr txBox="1"/>
          <p:nvPr/>
        </p:nvSpPr>
        <p:spPr>
          <a:xfrm>
            <a:off x="744475" y="135338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$300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0B80B4-1818-43CC-A303-3656B4EE6A0E}"/>
              </a:ext>
            </a:extLst>
          </p:cNvPr>
          <p:cNvSpPr txBox="1"/>
          <p:nvPr/>
        </p:nvSpPr>
        <p:spPr>
          <a:xfrm>
            <a:off x="1673338" y="466288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$1,000-3,000</a:t>
            </a:r>
          </a:p>
        </p:txBody>
      </p:sp>
      <p:graphicFrame>
        <p:nvGraphicFramePr>
          <p:cNvPr id="53" name="Table 45">
            <a:extLst>
              <a:ext uri="{FF2B5EF4-FFF2-40B4-BE49-F238E27FC236}">
                <a16:creationId xmlns:a16="http://schemas.microsoft.com/office/drawing/2014/main" id="{B8EB522A-3397-4541-B94B-100999D98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86090"/>
              </p:ext>
            </p:extLst>
          </p:nvPr>
        </p:nvGraphicFramePr>
        <p:xfrm>
          <a:off x="9400279" y="4205972"/>
          <a:ext cx="2098147" cy="252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001">
                  <a:extLst>
                    <a:ext uri="{9D8B030D-6E8A-4147-A177-3AD203B41FA5}">
                      <a16:colId xmlns:a16="http://schemas.microsoft.com/office/drawing/2014/main" val="2929657348"/>
                    </a:ext>
                  </a:extLst>
                </a:gridCol>
                <a:gridCol w="1089146">
                  <a:extLst>
                    <a:ext uri="{9D8B030D-6E8A-4147-A177-3AD203B41FA5}">
                      <a16:colId xmlns:a16="http://schemas.microsoft.com/office/drawing/2014/main" val="32209995"/>
                    </a:ext>
                  </a:extLst>
                </a:gridCol>
              </a:tblGrid>
              <a:tr h="269673">
                <a:tc>
                  <a:txBody>
                    <a:bodyPr/>
                    <a:lstStyle/>
                    <a:p>
                      <a:r>
                        <a:rPr lang="en-US" sz="14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77997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$1,600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7556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$800 – $3k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11524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$1k - $3k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950160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$100-400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30755"/>
                  </a:ext>
                </a:extLst>
              </a:tr>
              <a:tr h="334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$120-240/</a:t>
                      </a:r>
                      <a:r>
                        <a:rPr lang="en-US" sz="1400" dirty="0" err="1"/>
                        <a:t>yr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610083"/>
                  </a:ext>
                </a:extLst>
              </a:tr>
              <a:tr h="334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$100-300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69107"/>
                  </a:ext>
                </a:extLst>
              </a:tr>
              <a:tr h="33474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$4k – $8k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63239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1503C3CF-A20A-4638-8817-7F093BF6C260}"/>
              </a:ext>
            </a:extLst>
          </p:cNvPr>
          <p:cNvSpPr txBox="1"/>
          <p:nvPr/>
        </p:nvSpPr>
        <p:spPr>
          <a:xfrm>
            <a:off x="753098" y="2851344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$2,200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819BFC-F556-4C25-93BB-65AD82F31914}"/>
              </a:ext>
            </a:extLst>
          </p:cNvPr>
          <p:cNvSpPr txBox="1"/>
          <p:nvPr/>
        </p:nvSpPr>
        <p:spPr>
          <a:xfrm>
            <a:off x="2513533" y="629720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$800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DDE884-CF13-4F3A-9ADA-08A62E014073}"/>
              </a:ext>
            </a:extLst>
          </p:cNvPr>
          <p:cNvSpPr txBox="1"/>
          <p:nvPr/>
        </p:nvSpPr>
        <p:spPr>
          <a:xfrm>
            <a:off x="4762292" y="639737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$2,800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8BAA1E-67BB-4059-9FE2-DD2BE9D63B9F}"/>
              </a:ext>
            </a:extLst>
          </p:cNvPr>
          <p:cNvSpPr txBox="1"/>
          <p:nvPr/>
        </p:nvSpPr>
        <p:spPr>
          <a:xfrm>
            <a:off x="7389974" y="6042751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Priceless</a:t>
            </a:r>
          </a:p>
        </p:txBody>
      </p:sp>
    </p:spTree>
    <p:extLst>
      <p:ext uri="{BB962C8B-B14F-4D97-AF65-F5344CB8AC3E}">
        <p14:creationId xmlns:p14="http://schemas.microsoft.com/office/powerpoint/2010/main" val="130979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2FD8148-EC27-479D-98FD-D748E97792EB}"/>
              </a:ext>
            </a:extLst>
          </p:cNvPr>
          <p:cNvGrpSpPr/>
          <p:nvPr/>
        </p:nvGrpSpPr>
        <p:grpSpPr>
          <a:xfrm>
            <a:off x="1204502" y="4728955"/>
            <a:ext cx="2749010" cy="2518871"/>
            <a:chOff x="166721" y="4246355"/>
            <a:chExt cx="2749010" cy="2518871"/>
          </a:xfrm>
        </p:grpSpPr>
        <p:pic>
          <p:nvPicPr>
            <p:cNvPr id="1028" name="Picture 4" descr="Smart PT | Stevens Water">
              <a:extLst>
                <a:ext uri="{FF2B5EF4-FFF2-40B4-BE49-F238E27FC236}">
                  <a16:creationId xmlns:a16="http://schemas.microsoft.com/office/drawing/2014/main" id="{D949FDCB-52FE-4726-A55D-015C61A04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60" y="4246355"/>
              <a:ext cx="2518871" cy="2518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9BC3B7-26A1-4406-AA19-DD1CE20E54AD}"/>
                </a:ext>
              </a:extLst>
            </p:cNvPr>
            <p:cNvSpPr txBox="1"/>
            <p:nvPr/>
          </p:nvSpPr>
          <p:spPr>
            <a:xfrm>
              <a:off x="166721" y="5107739"/>
              <a:ext cx="14838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StevensWater</a:t>
              </a:r>
              <a:endParaRPr lang="en-US" dirty="0"/>
            </a:p>
            <a:p>
              <a:r>
                <a:rPr lang="en-US" dirty="0"/>
                <a:t>“</a:t>
              </a:r>
              <a:r>
                <a:rPr lang="en-US" dirty="0" err="1"/>
                <a:t>SmartPT</a:t>
              </a:r>
              <a:r>
                <a:rPr lang="en-US" dirty="0"/>
                <a:t>”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3B8219-F979-419F-A05A-D7447A2A95AA}"/>
              </a:ext>
            </a:extLst>
          </p:cNvPr>
          <p:cNvCxnSpPr/>
          <p:nvPr/>
        </p:nvCxnSpPr>
        <p:spPr>
          <a:xfrm flipV="1">
            <a:off x="4002275" y="3596780"/>
            <a:ext cx="1653310" cy="11360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61AD97-FF9B-468E-858C-3297AF5356CA}"/>
              </a:ext>
            </a:extLst>
          </p:cNvPr>
          <p:cNvCxnSpPr/>
          <p:nvPr/>
        </p:nvCxnSpPr>
        <p:spPr>
          <a:xfrm flipV="1">
            <a:off x="4015752" y="3741152"/>
            <a:ext cx="1653310" cy="11360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28D47B-DE61-4099-A7B9-8DA9F331EE2A}"/>
              </a:ext>
            </a:extLst>
          </p:cNvPr>
          <p:cNvCxnSpPr/>
          <p:nvPr/>
        </p:nvCxnSpPr>
        <p:spPr>
          <a:xfrm flipV="1">
            <a:off x="4042417" y="3859621"/>
            <a:ext cx="1653310" cy="11360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Symmetry Solar Panel Pole Mount Kit">
            <a:extLst>
              <a:ext uri="{FF2B5EF4-FFF2-40B4-BE49-F238E27FC236}">
                <a16:creationId xmlns:a16="http://schemas.microsoft.com/office/drawing/2014/main" id="{BCA4BE0E-8720-477D-82D1-2273F1F2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35" y="935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9B88A6-A344-4EA3-ADCC-1E71FD70C49B}"/>
              </a:ext>
            </a:extLst>
          </p:cNvPr>
          <p:cNvCxnSpPr>
            <a:cxnSpLocks/>
          </p:cNvCxnSpPr>
          <p:nvPr/>
        </p:nvCxnSpPr>
        <p:spPr>
          <a:xfrm>
            <a:off x="2305169" y="1667448"/>
            <a:ext cx="3363893" cy="8169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F5E2F7-D9DF-4423-85D6-CB726842D6C8}"/>
              </a:ext>
            </a:extLst>
          </p:cNvPr>
          <p:cNvCxnSpPr>
            <a:cxnSpLocks/>
          </p:cNvCxnSpPr>
          <p:nvPr/>
        </p:nvCxnSpPr>
        <p:spPr>
          <a:xfrm>
            <a:off x="2305169" y="1813920"/>
            <a:ext cx="3363764" cy="7749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F34131-F6E3-4D28-99F1-7C8ED2892D85}"/>
              </a:ext>
            </a:extLst>
          </p:cNvPr>
          <p:cNvCxnSpPr>
            <a:cxnSpLocks/>
          </p:cNvCxnSpPr>
          <p:nvPr/>
        </p:nvCxnSpPr>
        <p:spPr>
          <a:xfrm>
            <a:off x="4179807" y="1625219"/>
            <a:ext cx="1515920" cy="65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731AB4-ED38-4DEC-98BE-E91F686001A9}"/>
              </a:ext>
            </a:extLst>
          </p:cNvPr>
          <p:cNvCxnSpPr>
            <a:cxnSpLocks/>
          </p:cNvCxnSpPr>
          <p:nvPr/>
        </p:nvCxnSpPr>
        <p:spPr>
          <a:xfrm>
            <a:off x="4274949" y="1760549"/>
            <a:ext cx="1394113" cy="6158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MOTOMASTER OEPLUS Group Size 24F Battery, 725 CCA Canadian Tire">
            <a:extLst>
              <a:ext uri="{FF2B5EF4-FFF2-40B4-BE49-F238E27FC236}">
                <a16:creationId xmlns:a16="http://schemas.microsoft.com/office/drawing/2014/main" id="{9FEB79EF-4348-4731-9F4E-1FBB79B1E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94" y="560791"/>
            <a:ext cx="1244468" cy="125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igma 950 Area Velocity Bubbler Flow Meter with Sensor | Hach Canada -  Overview - Obsolete">
            <a:extLst>
              <a:ext uri="{FF2B5EF4-FFF2-40B4-BE49-F238E27FC236}">
                <a16:creationId xmlns:a16="http://schemas.microsoft.com/office/drawing/2014/main" id="{82C35058-2CED-4274-A6B5-D0DF0FDB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22" y="5180602"/>
            <a:ext cx="1546207" cy="146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arTech.com 10' RS232 Serial Null Modem Cable - Null modem cable - DB-9  (F) to DB-9 (F) - 10 ft - SCNM9FF: Amazon.ca: Electronics">
            <a:extLst>
              <a:ext uri="{FF2B5EF4-FFF2-40B4-BE49-F238E27FC236}">
                <a16:creationId xmlns:a16="http://schemas.microsoft.com/office/drawing/2014/main" id="{D573B95B-856B-4A50-8411-52B2000F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38284">
            <a:off x="6794075" y="4239370"/>
            <a:ext cx="428462" cy="43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ignal Input Cable, 10-ft 7-Pin Connector, Sigma SD900">
            <a:extLst>
              <a:ext uri="{FF2B5EF4-FFF2-40B4-BE49-F238E27FC236}">
                <a16:creationId xmlns:a16="http://schemas.microsoft.com/office/drawing/2014/main" id="{B384663D-0D73-4CEB-BDC3-959F01EA0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9" t="34014" r="623" b="42131"/>
          <a:stretch/>
        </p:blipFill>
        <p:spPr bwMode="auto">
          <a:xfrm rot="7402434">
            <a:off x="1927265" y="3567764"/>
            <a:ext cx="610948" cy="113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stewater sampler - Sigma 900 - Hach - refrigerated">
            <a:extLst>
              <a:ext uri="{FF2B5EF4-FFF2-40B4-BE49-F238E27FC236}">
                <a16:creationId xmlns:a16="http://schemas.microsoft.com/office/drawing/2014/main" id="{D3C6116F-F673-43E5-B032-2ABB75C5B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13" y="3713172"/>
            <a:ext cx="1373060" cy="18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A4C2BF-795F-4BC5-952C-5DF280B6D4E3}"/>
              </a:ext>
            </a:extLst>
          </p:cNvPr>
          <p:cNvCxnSpPr>
            <a:cxnSpLocks/>
          </p:cNvCxnSpPr>
          <p:nvPr/>
        </p:nvCxnSpPr>
        <p:spPr>
          <a:xfrm flipV="1">
            <a:off x="2716579" y="3026753"/>
            <a:ext cx="2846049" cy="928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9645C1-0451-4172-B5A0-16E184004F41}"/>
              </a:ext>
            </a:extLst>
          </p:cNvPr>
          <p:cNvCxnSpPr>
            <a:cxnSpLocks/>
          </p:cNvCxnSpPr>
          <p:nvPr/>
        </p:nvCxnSpPr>
        <p:spPr>
          <a:xfrm flipV="1">
            <a:off x="2782401" y="3162227"/>
            <a:ext cx="2807362" cy="951067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PSA-AV - FloWav - Open Channel-Wastewater Area Velocity Sensor">
            <a:extLst>
              <a:ext uri="{FF2B5EF4-FFF2-40B4-BE49-F238E27FC236}">
                <a16:creationId xmlns:a16="http://schemas.microsoft.com/office/drawing/2014/main" id="{836CB37D-C71F-4831-93D0-467B23302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91516" flipH="1">
            <a:off x="1601849" y="2448479"/>
            <a:ext cx="1488503" cy="10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76ACEE-9167-4800-9864-9B805282F1FC}"/>
              </a:ext>
            </a:extLst>
          </p:cNvPr>
          <p:cNvCxnSpPr>
            <a:cxnSpLocks/>
          </p:cNvCxnSpPr>
          <p:nvPr/>
        </p:nvCxnSpPr>
        <p:spPr>
          <a:xfrm>
            <a:off x="3151157" y="2713548"/>
            <a:ext cx="2467104" cy="59601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10FF639-D1A0-4316-8559-4260BB2CBAD2}"/>
              </a:ext>
            </a:extLst>
          </p:cNvPr>
          <p:cNvCxnSpPr>
            <a:cxnSpLocks/>
          </p:cNvCxnSpPr>
          <p:nvPr/>
        </p:nvCxnSpPr>
        <p:spPr>
          <a:xfrm flipV="1">
            <a:off x="3151157" y="2877544"/>
            <a:ext cx="2466975" cy="12252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1A9329-4834-4CA9-B317-6D5520AA9739}"/>
              </a:ext>
            </a:extLst>
          </p:cNvPr>
          <p:cNvSpPr txBox="1"/>
          <p:nvPr/>
        </p:nvSpPr>
        <p:spPr>
          <a:xfrm>
            <a:off x="1719411" y="4362413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AA719-5C6C-47C0-A804-B38EDBD7227E}"/>
              </a:ext>
            </a:extLst>
          </p:cNvPr>
          <p:cNvSpPr txBox="1"/>
          <p:nvPr/>
        </p:nvSpPr>
        <p:spPr>
          <a:xfrm>
            <a:off x="7641731" y="5964075"/>
            <a:ext cx="1204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 950 </a:t>
            </a:r>
          </a:p>
          <a:p>
            <a:r>
              <a:rPr lang="en-US" dirty="0"/>
              <a:t>flowmeter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691DAF-65A8-4501-8626-DB1CD09B7773}"/>
              </a:ext>
            </a:extLst>
          </p:cNvPr>
          <p:cNvSpPr/>
          <p:nvPr/>
        </p:nvSpPr>
        <p:spPr>
          <a:xfrm>
            <a:off x="4307723" y="4864"/>
            <a:ext cx="60074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Sutron Universe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FCEBE8-FAF4-42A4-857A-521FC586B32F}"/>
              </a:ext>
            </a:extLst>
          </p:cNvPr>
          <p:cNvSpPr txBox="1"/>
          <p:nvPr/>
        </p:nvSpPr>
        <p:spPr>
          <a:xfrm>
            <a:off x="863380" y="2318989"/>
            <a:ext cx="918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PSA-AV </a:t>
            </a:r>
          </a:p>
          <a:p>
            <a:r>
              <a:rPr lang="en-US" dirty="0"/>
              <a:t>sensor</a:t>
            </a:r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7B41BDC7-35B2-45A7-AFE1-938634F09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1430"/>
              </p:ext>
            </p:extLst>
          </p:nvPr>
        </p:nvGraphicFramePr>
        <p:xfrm>
          <a:off x="8005499" y="2652028"/>
          <a:ext cx="4098984" cy="286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196">
                  <a:extLst>
                    <a:ext uri="{9D8B030D-6E8A-4147-A177-3AD203B41FA5}">
                      <a16:colId xmlns:a16="http://schemas.microsoft.com/office/drawing/2014/main" val="2929657348"/>
                    </a:ext>
                  </a:extLst>
                </a:gridCol>
                <a:gridCol w="1582809">
                  <a:extLst>
                    <a:ext uri="{9D8B030D-6E8A-4147-A177-3AD203B41FA5}">
                      <a16:colId xmlns:a16="http://schemas.microsoft.com/office/drawing/2014/main" val="32209995"/>
                    </a:ext>
                  </a:extLst>
                </a:gridCol>
                <a:gridCol w="1259979">
                  <a:extLst>
                    <a:ext uri="{9D8B030D-6E8A-4147-A177-3AD203B41FA5}">
                      <a16:colId xmlns:a16="http://schemas.microsoft.com/office/drawing/2014/main" val="991159111"/>
                    </a:ext>
                  </a:extLst>
                </a:gridCol>
              </a:tblGrid>
              <a:tr h="249699">
                <a:tc>
                  <a:txBody>
                    <a:bodyPr/>
                    <a:lstStyle/>
                    <a:p>
                      <a:r>
                        <a:rPr lang="en-US" sz="1200"/>
                        <a:t>Item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Connection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77997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Battery cable, ring terminals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 strand, 16 ga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$25-50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11524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Solar Panel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Bare wires, usually part of solar panel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$0-100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950160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PSA-AV sensor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Bulgin 9 pin female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Wire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$30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30755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Sampler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Sampler comm cable (cut to bare wire)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$227 / 2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610083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Sigma 950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Hach data download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Male/male adapter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$95</a:t>
                      </a:r>
                    </a:p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$3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87451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Antenna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SMA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$50-75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23553"/>
                  </a:ext>
                </a:extLst>
              </a:tr>
            </a:tbl>
          </a:graphicData>
        </a:graphic>
      </p:graphicFrame>
      <p:pic>
        <p:nvPicPr>
          <p:cNvPr id="1044" name="Picture 20" descr="OTT CBS - Compact Bubbler Sensor - OTT Hydromet">
            <a:extLst>
              <a:ext uri="{FF2B5EF4-FFF2-40B4-BE49-F238E27FC236}">
                <a16:creationId xmlns:a16="http://schemas.microsoft.com/office/drawing/2014/main" id="{958350CC-39E9-4FCC-A8AA-807D8114C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t="17718" r="20382" b="11341"/>
          <a:stretch/>
        </p:blipFill>
        <p:spPr bwMode="auto">
          <a:xfrm>
            <a:off x="3804664" y="5147698"/>
            <a:ext cx="1620537" cy="12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A3E9794-FB2F-47C2-906D-5E479C7B8BC8}"/>
              </a:ext>
            </a:extLst>
          </p:cNvPr>
          <p:cNvSpPr txBox="1"/>
          <p:nvPr/>
        </p:nvSpPr>
        <p:spPr>
          <a:xfrm>
            <a:off x="3669773" y="6154689"/>
            <a:ext cx="135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OTT Bubbler</a:t>
            </a:r>
          </a:p>
        </p:txBody>
      </p:sp>
      <p:pic>
        <p:nvPicPr>
          <p:cNvPr id="1026" name="Picture 2" descr="Data Management">
            <a:extLst>
              <a:ext uri="{FF2B5EF4-FFF2-40B4-BE49-F238E27FC236}">
                <a16:creationId xmlns:a16="http://schemas.microsoft.com/office/drawing/2014/main" id="{DE5D2F92-D81C-4429-96C1-D8EEE7049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4" t="7858" r="15029" b="4485"/>
          <a:stretch/>
        </p:blipFill>
        <p:spPr bwMode="auto">
          <a:xfrm>
            <a:off x="5713274" y="1687168"/>
            <a:ext cx="1963648" cy="2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81C48E-EC1E-4385-BBC8-B5E31F4DE6DB}"/>
              </a:ext>
            </a:extLst>
          </p:cNvPr>
          <p:cNvSpPr txBox="1"/>
          <p:nvPr/>
        </p:nvSpPr>
        <p:spPr>
          <a:xfrm rot="1405349">
            <a:off x="4289985" y="1567159"/>
            <a:ext cx="141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Battery cable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C4D48-AE58-4026-9D2D-E79472839996}"/>
              </a:ext>
            </a:extLst>
          </p:cNvPr>
          <p:cNvSpPr txBox="1"/>
          <p:nvPr/>
        </p:nvSpPr>
        <p:spPr>
          <a:xfrm>
            <a:off x="5562628" y="936579"/>
            <a:ext cx="4566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Additional cables and connectors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E92EB-87DB-4C2B-8DE3-FC9D41D2437D}"/>
              </a:ext>
            </a:extLst>
          </p:cNvPr>
          <p:cNvSpPr txBox="1"/>
          <p:nvPr/>
        </p:nvSpPr>
        <p:spPr>
          <a:xfrm>
            <a:off x="3320471" y="2433159"/>
            <a:ext cx="1516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Bulgin 9pin plug</a:t>
            </a:r>
          </a:p>
        </p:txBody>
      </p:sp>
      <p:pic>
        <p:nvPicPr>
          <p:cNvPr id="6" name="Picture 2" descr="Taoglas launches first cellular road marker antenna the RG.01 - Taoglas">
            <a:extLst>
              <a:ext uri="{FF2B5EF4-FFF2-40B4-BE49-F238E27FC236}">
                <a16:creationId xmlns:a16="http://schemas.microsoft.com/office/drawing/2014/main" id="{8744714B-1833-4211-83A3-D22D13CE6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1"/>
          <a:stretch/>
        </p:blipFill>
        <p:spPr bwMode="auto">
          <a:xfrm>
            <a:off x="7676922" y="1295327"/>
            <a:ext cx="1671400" cy="82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6E64B7-7A7B-4E51-B5C4-825553412773}"/>
              </a:ext>
            </a:extLst>
          </p:cNvPr>
          <p:cNvSpPr txBox="1"/>
          <p:nvPr/>
        </p:nvSpPr>
        <p:spPr>
          <a:xfrm>
            <a:off x="9212521" y="1250624"/>
            <a:ext cx="201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“road dot” antenna</a:t>
            </a:r>
          </a:p>
        </p:txBody>
      </p:sp>
      <p:pic>
        <p:nvPicPr>
          <p:cNvPr id="12" name="Picture 4" descr="TRA6927M3PW-001">
            <a:extLst>
              <a:ext uri="{FF2B5EF4-FFF2-40B4-BE49-F238E27FC236}">
                <a16:creationId xmlns:a16="http://schemas.microsoft.com/office/drawing/2014/main" id="{AC4B50A0-2C02-4485-BF71-F54386E5B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832" y="1884379"/>
            <a:ext cx="555579" cy="55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023D45B-5C85-4508-BF95-9F5758436294}"/>
              </a:ext>
            </a:extLst>
          </p:cNvPr>
          <p:cNvSpPr txBox="1"/>
          <p:nvPr/>
        </p:nvSpPr>
        <p:spPr>
          <a:xfrm>
            <a:off x="9121230" y="1945499"/>
            <a:ext cx="185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Standard antenna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63E1EF-5701-4306-AB56-5A05D1A29CD2}"/>
              </a:ext>
            </a:extLst>
          </p:cNvPr>
          <p:cNvSpPr txBox="1"/>
          <p:nvPr/>
        </p:nvSpPr>
        <p:spPr>
          <a:xfrm rot="20627730">
            <a:off x="2683151" y="3234354"/>
            <a:ext cx="2445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Hach sampler control cable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6F7BCE-3160-4869-A629-7759F3668802}"/>
              </a:ext>
            </a:extLst>
          </p:cNvPr>
          <p:cNvSpPr txBox="1"/>
          <p:nvPr/>
        </p:nvSpPr>
        <p:spPr>
          <a:xfrm>
            <a:off x="5816700" y="4659735"/>
            <a:ext cx="222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Hach data download cable</a:t>
            </a:r>
          </a:p>
          <a:p>
            <a:r>
              <a:rPr lang="en-US" sz="1400"/>
              <a:t>w/male male adapter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9887F0-A900-4CE8-8CD6-3424B31E127F}"/>
              </a:ext>
            </a:extLst>
          </p:cNvPr>
          <p:cNvSpPr txBox="1"/>
          <p:nvPr/>
        </p:nvSpPr>
        <p:spPr>
          <a:xfrm rot="19744755">
            <a:off x="3881946" y="4049153"/>
            <a:ext cx="1149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Flying leads</a:t>
            </a:r>
          </a:p>
        </p:txBody>
      </p:sp>
      <p:pic>
        <p:nvPicPr>
          <p:cNvPr id="13" name="Picture 6" descr="RS232 DB9 Male-to-Male Coupler">
            <a:extLst>
              <a:ext uri="{FF2B5EF4-FFF2-40B4-BE49-F238E27FC236}">
                <a16:creationId xmlns:a16="http://schemas.microsoft.com/office/drawing/2014/main" id="{D9782120-61D3-4D61-A6A3-9AFC18A1D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" t="23411" r="10734" b="29779"/>
          <a:stretch/>
        </p:blipFill>
        <p:spPr bwMode="auto">
          <a:xfrm>
            <a:off x="6357509" y="4102212"/>
            <a:ext cx="436157" cy="25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08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B2E224-A947-507A-AA5E-402073309CDC}"/>
              </a:ext>
            </a:extLst>
          </p:cNvPr>
          <p:cNvSpPr/>
          <p:nvPr/>
        </p:nvSpPr>
        <p:spPr>
          <a:xfrm>
            <a:off x="5373189" y="1365910"/>
            <a:ext cx="2531953" cy="309786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16" descr="Signal Input Cable, 10-ft 7-Pin Connector, Sigma SD900">
            <a:extLst>
              <a:ext uri="{FF2B5EF4-FFF2-40B4-BE49-F238E27FC236}">
                <a16:creationId xmlns:a16="http://schemas.microsoft.com/office/drawing/2014/main" id="{B384663D-0D73-4CEB-BDC3-959F01EA0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9" t="34014" r="623" b="42131"/>
          <a:stretch/>
        </p:blipFill>
        <p:spPr bwMode="auto">
          <a:xfrm rot="7402434">
            <a:off x="3100351" y="3484263"/>
            <a:ext cx="610948" cy="113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A4C2BF-795F-4BC5-952C-5DF280B6D4E3}"/>
              </a:ext>
            </a:extLst>
          </p:cNvPr>
          <p:cNvCxnSpPr>
            <a:cxnSpLocks/>
          </p:cNvCxnSpPr>
          <p:nvPr/>
        </p:nvCxnSpPr>
        <p:spPr>
          <a:xfrm flipV="1">
            <a:off x="3845666" y="3026753"/>
            <a:ext cx="1716962" cy="8485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9645C1-0451-4172-B5A0-16E184004F41}"/>
              </a:ext>
            </a:extLst>
          </p:cNvPr>
          <p:cNvCxnSpPr>
            <a:cxnSpLocks/>
          </p:cNvCxnSpPr>
          <p:nvPr/>
        </p:nvCxnSpPr>
        <p:spPr>
          <a:xfrm flipV="1">
            <a:off x="3969177" y="3162227"/>
            <a:ext cx="1620586" cy="85840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1A9329-4834-4CA9-B317-6D5520AA9739}"/>
              </a:ext>
            </a:extLst>
          </p:cNvPr>
          <p:cNvSpPr txBox="1"/>
          <p:nvPr/>
        </p:nvSpPr>
        <p:spPr>
          <a:xfrm>
            <a:off x="3008788" y="4679477"/>
            <a:ext cx="1142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ISCO 3700</a:t>
            </a:r>
          </a:p>
          <a:p>
            <a:r>
              <a:rPr lang="en-US"/>
              <a:t>Sampler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61684B-24F5-4CB6-85E8-EC9A2636BDCC}"/>
              </a:ext>
            </a:extLst>
          </p:cNvPr>
          <p:cNvSpPr txBox="1"/>
          <p:nvPr/>
        </p:nvSpPr>
        <p:spPr>
          <a:xfrm rot="20307547">
            <a:off x="4305317" y="375902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Hach sampler </a:t>
            </a:r>
          </a:p>
          <a:p>
            <a:r>
              <a:rPr lang="en-US" sz="1400"/>
              <a:t>control cable</a:t>
            </a:r>
            <a:endParaRPr 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AA719-5C6C-47C0-A804-B38EDBD7227E}"/>
              </a:ext>
            </a:extLst>
          </p:cNvPr>
          <p:cNvSpPr txBox="1"/>
          <p:nvPr/>
        </p:nvSpPr>
        <p:spPr>
          <a:xfrm>
            <a:off x="919178" y="967618"/>
            <a:ext cx="1564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ISCO Signature</a:t>
            </a:r>
            <a:endParaRPr lang="en-US" dirty="0"/>
          </a:p>
          <a:p>
            <a:r>
              <a:rPr lang="en-US" dirty="0"/>
              <a:t>flowmeter</a:t>
            </a:r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7B41BDC7-35B2-45A7-AFE1-938634F09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575915"/>
              </p:ext>
            </p:extLst>
          </p:nvPr>
        </p:nvGraphicFramePr>
        <p:xfrm>
          <a:off x="7939189" y="2595154"/>
          <a:ext cx="378966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75">
                  <a:extLst>
                    <a:ext uri="{9D8B030D-6E8A-4147-A177-3AD203B41FA5}">
                      <a16:colId xmlns:a16="http://schemas.microsoft.com/office/drawing/2014/main" val="2929657348"/>
                    </a:ext>
                  </a:extLst>
                </a:gridCol>
                <a:gridCol w="767163">
                  <a:extLst>
                    <a:ext uri="{9D8B030D-6E8A-4147-A177-3AD203B41FA5}">
                      <a16:colId xmlns:a16="http://schemas.microsoft.com/office/drawing/2014/main" val="991159111"/>
                    </a:ext>
                  </a:extLst>
                </a:gridCol>
                <a:gridCol w="1716230">
                  <a:extLst>
                    <a:ext uri="{9D8B030D-6E8A-4147-A177-3AD203B41FA5}">
                      <a16:colId xmlns:a16="http://schemas.microsoft.com/office/drawing/2014/main" val="3593075780"/>
                    </a:ext>
                  </a:extLst>
                </a:gridCol>
              </a:tblGrid>
              <a:tr h="269673">
                <a:tc>
                  <a:txBody>
                    <a:bodyPr/>
                    <a:lstStyle/>
                    <a:p>
                      <a:r>
                        <a:rPr lang="en-US" sz="1400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$$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77997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Signature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RS-485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11524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3700 Sampler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V pulse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4199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Sutron Xlink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$1,600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154220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Cell data plan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$150/yr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400867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Antenna w/cable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$300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785510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Sampler control cable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$250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697894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Enclosure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$200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093140"/>
                  </a:ext>
                </a:extLst>
              </a:tr>
              <a:tr h="269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Power Supply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$50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230500"/>
                  </a:ext>
                </a:extLst>
              </a:tr>
              <a:tr h="26967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Total: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$2,400 +cell plan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505952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5232D0DA-F2A8-4A85-B4B2-57FC94C2107A}"/>
              </a:ext>
            </a:extLst>
          </p:cNvPr>
          <p:cNvGrpSpPr/>
          <p:nvPr/>
        </p:nvGrpSpPr>
        <p:grpSpPr>
          <a:xfrm>
            <a:off x="10254212" y="455783"/>
            <a:ext cx="1657525" cy="1565305"/>
            <a:chOff x="7419086" y="798394"/>
            <a:chExt cx="1760305" cy="158875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C41B4A-4246-4EDF-8BD9-AAC3E06AB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9086" y="798394"/>
              <a:ext cx="1760305" cy="158875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7B4D4D-1D2E-4224-80C3-F6A466F24F31}"/>
                </a:ext>
              </a:extLst>
            </p:cNvPr>
            <p:cNvSpPr/>
            <p:nvPr/>
          </p:nvSpPr>
          <p:spPr>
            <a:xfrm>
              <a:off x="7432477" y="1722153"/>
              <a:ext cx="679661" cy="655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Data Management">
            <a:extLst>
              <a:ext uri="{FF2B5EF4-FFF2-40B4-BE49-F238E27FC236}">
                <a16:creationId xmlns:a16="http://schemas.microsoft.com/office/drawing/2014/main" id="{DE5D2F92-D81C-4429-96C1-D8EEE7049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4" t="7858" r="15029" b="4485"/>
          <a:stretch/>
        </p:blipFill>
        <p:spPr bwMode="auto">
          <a:xfrm>
            <a:off x="5713274" y="1687168"/>
            <a:ext cx="1963648" cy="2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ACAED17-537E-4537-ABF1-DF9261D58A90}"/>
              </a:ext>
            </a:extLst>
          </p:cNvPr>
          <p:cNvSpPr txBox="1"/>
          <p:nvPr/>
        </p:nvSpPr>
        <p:spPr>
          <a:xfrm rot="20496114">
            <a:off x="8333573" y="1441391"/>
            <a:ext cx="1831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modem to</a:t>
            </a:r>
          </a:p>
          <a:p>
            <a:r>
              <a:rPr lang="en-US" dirty="0"/>
              <a:t>Phone, PC, server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FCA752-D5A8-D625-EF7D-FE60362EAB5E}"/>
              </a:ext>
            </a:extLst>
          </p:cNvPr>
          <p:cNvCxnSpPr>
            <a:cxnSpLocks/>
          </p:cNvCxnSpPr>
          <p:nvPr/>
        </p:nvCxnSpPr>
        <p:spPr>
          <a:xfrm>
            <a:off x="3151157" y="2713548"/>
            <a:ext cx="2467104" cy="59601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0A947D-0CFC-7AF7-95B8-83339B9ACDE4}"/>
              </a:ext>
            </a:extLst>
          </p:cNvPr>
          <p:cNvCxnSpPr>
            <a:cxnSpLocks/>
          </p:cNvCxnSpPr>
          <p:nvPr/>
        </p:nvCxnSpPr>
        <p:spPr>
          <a:xfrm flipV="1">
            <a:off x="3151157" y="2877544"/>
            <a:ext cx="2466975" cy="12252"/>
          </a:xfrm>
          <a:prstGeom prst="line">
            <a:avLst/>
          </a:prstGeom>
          <a:ln w="3810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A6E2BD-0B45-B54C-C226-3CF6B155ED6B}"/>
              </a:ext>
            </a:extLst>
          </p:cNvPr>
          <p:cNvSpPr txBox="1"/>
          <p:nvPr/>
        </p:nvSpPr>
        <p:spPr>
          <a:xfrm>
            <a:off x="3725606" y="2190328"/>
            <a:ext cx="862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RS-485 </a:t>
            </a:r>
            <a:endParaRPr lang="en-US" sz="1400" dirty="0"/>
          </a:p>
          <a:p>
            <a:r>
              <a:rPr lang="en-US" sz="1400" dirty="0"/>
              <a:t>MODBUS</a:t>
            </a:r>
          </a:p>
        </p:txBody>
      </p:sp>
      <p:pic>
        <p:nvPicPr>
          <p:cNvPr id="8" name="Picture 2" descr="Laird Technologies 4G/3G Multiband Phantom Antenna Black NMO">
            <a:extLst>
              <a:ext uri="{FF2B5EF4-FFF2-40B4-BE49-F238E27FC236}">
                <a16:creationId xmlns:a16="http://schemas.microsoft.com/office/drawing/2014/main" id="{5A22EA4E-F927-749C-909D-09BA3D912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205" y="455783"/>
            <a:ext cx="883920" cy="88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8375C104-42ED-BFE0-A3D6-93F8EC3EAE3F}"/>
              </a:ext>
            </a:extLst>
          </p:cNvPr>
          <p:cNvSpPr/>
          <p:nvPr/>
        </p:nvSpPr>
        <p:spPr>
          <a:xfrm rot="17902842">
            <a:off x="8262010" y="786586"/>
            <a:ext cx="883920" cy="628292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41ACA-0B2A-3936-001F-55BE9235C43E}"/>
              </a:ext>
            </a:extLst>
          </p:cNvPr>
          <p:cNvSpPr txBox="1"/>
          <p:nvPr/>
        </p:nvSpPr>
        <p:spPr>
          <a:xfrm>
            <a:off x="5939298" y="275687"/>
            <a:ext cx="1383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Cellular antenna</a:t>
            </a:r>
            <a:endParaRPr lang="en-US" sz="1400" dirty="0"/>
          </a:p>
        </p:txBody>
      </p:sp>
      <p:pic>
        <p:nvPicPr>
          <p:cNvPr id="20" name="Picture 6" descr="Choose Your Signature Flowmeter – Teledyne ISCO">
            <a:extLst>
              <a:ext uri="{FF2B5EF4-FFF2-40B4-BE49-F238E27FC236}">
                <a16:creationId xmlns:a16="http://schemas.microsoft.com/office/drawing/2014/main" id="{DC9503C5-16E1-DF3E-D756-ACA78482E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3" y="1507442"/>
            <a:ext cx="2677594" cy="182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287867-1340-86EB-0D5E-190838D3A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6521" y="3364092"/>
            <a:ext cx="1609725" cy="2333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293C3E-7AFE-A46E-58CA-0FA9334BF0A2}"/>
              </a:ext>
            </a:extLst>
          </p:cNvPr>
          <p:cNvSpPr txBox="1"/>
          <p:nvPr/>
        </p:nvSpPr>
        <p:spPr>
          <a:xfrm>
            <a:off x="6270265" y="4223127"/>
            <a:ext cx="894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Enclosure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45770C-9942-2A2A-B534-F7EE5E2CEB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0507" y="652928"/>
            <a:ext cx="1383327" cy="1214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129078-04A0-F48F-B82D-42D1FC68952D}"/>
              </a:ext>
            </a:extLst>
          </p:cNvPr>
          <p:cNvSpPr txBox="1"/>
          <p:nvPr/>
        </p:nvSpPr>
        <p:spPr>
          <a:xfrm>
            <a:off x="3725606" y="245999"/>
            <a:ext cx="122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AC to DC power supply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056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370</Words>
  <Application>Microsoft Office PowerPoint</Application>
  <PresentationFormat>Widescreen</PresentationFormat>
  <Paragraphs>170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Messina, Alex</dc:creator>
  <cp:lastModifiedBy>Messina, Alex</cp:lastModifiedBy>
  <cp:revision>25</cp:revision>
  <dcterms:created xsi:type="dcterms:W3CDTF">2020-12-16T18:42:37Z</dcterms:created>
  <dcterms:modified xsi:type="dcterms:W3CDTF">2023-03-24T20:41:00Z</dcterms:modified>
</cp:coreProperties>
</file>